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8" roundtripDataSignature="AMtx7mh6bq/JQ8ZRCiBGMsGDZPEa9fch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6ef8836a24_1_39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36ef8836a24_1_39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6ef8836a24_1_3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6ef8836a24_1_40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36ef8836a24_1_4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6ef8836a24_1_40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6ef8836a24_1_40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6ef8836a24_1_4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6ef8836a24_1_40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36ef8836a24_1_40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36ef8836a24_1_40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36ef8836a24_1_4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6ef8836a24_1_41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36ef8836a24_1_4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6ef8836a24_1_41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36ef8836a24_1_41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36ef8836a24_1_4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6ef8836a24_1_41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36ef8836a24_1_4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6ef8836a24_1_4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36ef8836a24_1_42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36ef8836a24_1_42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36ef8836a24_1_42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g36ef8836a24_1_4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6ef8836a24_1_42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36ef8836a24_1_4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6ef8836a24_1_43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36ef8836a24_1_43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36ef8836a24_1_4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6ef8836a24_1_4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light">
  <p:cSld name="Cover_light">
    <p:spTree>
      <p:nvGrpSpPr>
        <p:cNvPr id="54" name="Shape 54"/>
        <p:cNvGrpSpPr/>
        <p:nvPr/>
      </p:nvGrpSpPr>
      <p:grpSpPr>
        <a:xfrm>
          <a:off x="0" y="0"/>
          <a:ext cx="0" cy="0"/>
          <a:chOff x="0" y="0"/>
          <a:chExt cx="0" cy="0"/>
        </a:xfrm>
      </p:grpSpPr>
      <p:sp>
        <p:nvSpPr>
          <p:cNvPr id="55" name="Google Shape;55;g36ef8836a24_1_437"/>
          <p:cNvSpPr txBox="1"/>
          <p:nvPr>
            <p:ph type="title"/>
          </p:nvPr>
        </p:nvSpPr>
        <p:spPr>
          <a:xfrm>
            <a:off x="713185" y="407906"/>
            <a:ext cx="7717500" cy="17133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19383A"/>
              </a:buClr>
              <a:buSzPts val="4000"/>
              <a:buFont typeface="Arial"/>
              <a:buNone/>
              <a:defRPr sz="4000">
                <a:solidFill>
                  <a:srgbClr val="19383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g36ef8836a24_1_437"/>
          <p:cNvSpPr txBox="1"/>
          <p:nvPr>
            <p:ph idx="1" type="body"/>
          </p:nvPr>
        </p:nvSpPr>
        <p:spPr>
          <a:xfrm>
            <a:off x="713185" y="2361051"/>
            <a:ext cx="7791600" cy="639300"/>
          </a:xfrm>
          <a:prstGeom prst="rect">
            <a:avLst/>
          </a:prstGeom>
          <a:noFill/>
          <a:ln>
            <a:noFill/>
          </a:ln>
        </p:spPr>
        <p:txBody>
          <a:bodyPr anchorCtr="0" anchor="t" bIns="0" lIns="0" spcFirstLastPara="1" rIns="0" wrap="square" tIns="0">
            <a:normAutofit/>
          </a:bodyPr>
          <a:lstStyle>
            <a:lvl1pPr indent="-228600" lvl="0" marL="457200" algn="l">
              <a:lnSpc>
                <a:spcPct val="123000"/>
              </a:lnSpc>
              <a:spcBef>
                <a:spcPts val="600"/>
              </a:spcBef>
              <a:spcAft>
                <a:spcPts val="0"/>
              </a:spcAft>
              <a:buSzPts val="1600"/>
              <a:buNone/>
              <a:defRPr sz="1600">
                <a:solidFill>
                  <a:srgbClr val="00AD21"/>
                </a:solidFill>
              </a:defRPr>
            </a:lvl1pPr>
            <a:lvl2pPr indent="-228600" lvl="1" marL="914400" algn="l">
              <a:lnSpc>
                <a:spcPct val="123000"/>
              </a:lnSpc>
              <a:spcBef>
                <a:spcPts val="1200"/>
              </a:spcBef>
              <a:spcAft>
                <a:spcPts val="0"/>
              </a:spcAft>
              <a:buSzPts val="1500"/>
              <a:buNone/>
              <a:defRPr sz="1500">
                <a:solidFill>
                  <a:srgbClr val="888888"/>
                </a:solidFill>
              </a:defRPr>
            </a:lvl2pPr>
            <a:lvl3pPr indent="-228600" lvl="2" marL="1371600" algn="l">
              <a:lnSpc>
                <a:spcPct val="123000"/>
              </a:lnSpc>
              <a:spcBef>
                <a:spcPts val="1200"/>
              </a:spcBef>
              <a:spcAft>
                <a:spcPts val="0"/>
              </a:spcAft>
              <a:buSzPts val="1350"/>
              <a:buNone/>
              <a:defRPr sz="1350">
                <a:solidFill>
                  <a:srgbClr val="888888"/>
                </a:solidFill>
              </a:defRPr>
            </a:lvl3pPr>
            <a:lvl4pPr indent="-228600" lvl="3" marL="1828800" algn="l">
              <a:lnSpc>
                <a:spcPct val="123000"/>
              </a:lnSpc>
              <a:spcBef>
                <a:spcPts val="1200"/>
              </a:spcBef>
              <a:spcAft>
                <a:spcPts val="0"/>
              </a:spcAft>
              <a:buSzPts val="1200"/>
              <a:buNone/>
              <a:defRPr sz="1200">
                <a:solidFill>
                  <a:srgbClr val="888888"/>
                </a:solidFill>
              </a:defRPr>
            </a:lvl4pPr>
            <a:lvl5pPr indent="-228600" lvl="4" marL="2286000" algn="l">
              <a:lnSpc>
                <a:spcPct val="123000"/>
              </a:lnSpc>
              <a:spcBef>
                <a:spcPts val="1200"/>
              </a:spcBef>
              <a:spcAft>
                <a:spcPts val="0"/>
              </a:spcAft>
              <a:buSzPts val="1200"/>
              <a:buNone/>
              <a:defRPr sz="1200">
                <a:solidFill>
                  <a:srgbClr val="888888"/>
                </a:solidFill>
              </a:defRPr>
            </a:lvl5pPr>
            <a:lvl6pPr indent="-228600" lvl="5" marL="2743200" algn="l">
              <a:spcBef>
                <a:spcPts val="1200"/>
              </a:spcBef>
              <a:spcAft>
                <a:spcPts val="0"/>
              </a:spcAft>
              <a:buClr>
                <a:srgbClr val="888888"/>
              </a:buClr>
              <a:buSzPts val="1200"/>
              <a:buNone/>
              <a:defRPr sz="1200">
                <a:solidFill>
                  <a:srgbClr val="888888"/>
                </a:solidFill>
              </a:defRPr>
            </a:lvl6pPr>
            <a:lvl7pPr indent="-228600" lvl="6" marL="3200400" algn="l">
              <a:spcBef>
                <a:spcPts val="1200"/>
              </a:spcBef>
              <a:spcAft>
                <a:spcPts val="0"/>
              </a:spcAft>
              <a:buClr>
                <a:srgbClr val="888888"/>
              </a:buClr>
              <a:buSzPts val="1200"/>
              <a:buNone/>
              <a:defRPr sz="1200">
                <a:solidFill>
                  <a:srgbClr val="888888"/>
                </a:solidFill>
              </a:defRPr>
            </a:lvl7pPr>
            <a:lvl8pPr indent="-228600" lvl="7" marL="3657600" algn="l">
              <a:spcBef>
                <a:spcPts val="1200"/>
              </a:spcBef>
              <a:spcAft>
                <a:spcPts val="0"/>
              </a:spcAft>
              <a:buClr>
                <a:srgbClr val="888888"/>
              </a:buClr>
              <a:buSzPts val="1200"/>
              <a:buNone/>
              <a:defRPr sz="1200">
                <a:solidFill>
                  <a:srgbClr val="888888"/>
                </a:solidFill>
              </a:defRPr>
            </a:lvl8pPr>
            <a:lvl9pPr indent="-228600" lvl="8" marL="4114800" algn="l">
              <a:spcBef>
                <a:spcPts val="1200"/>
              </a:spcBef>
              <a:spcAft>
                <a:spcPts val="1200"/>
              </a:spcAft>
              <a:buClr>
                <a:srgbClr val="888888"/>
              </a:buClr>
              <a:buSzPts val="1200"/>
              <a:buNone/>
              <a:defRPr sz="1200">
                <a:solidFill>
                  <a:srgbClr val="888888"/>
                </a:solidFill>
              </a:defRPr>
            </a:lvl9pPr>
          </a:lstStyle>
          <a:p/>
        </p:txBody>
      </p:sp>
      <p:sp>
        <p:nvSpPr>
          <p:cNvPr id="57" name="Google Shape;57;g36ef8836a24_1_437"/>
          <p:cNvSpPr txBox="1"/>
          <p:nvPr>
            <p:ph idx="10" type="dt"/>
          </p:nvPr>
        </p:nvSpPr>
        <p:spPr>
          <a:xfrm>
            <a:off x="715228" y="4467425"/>
            <a:ext cx="2128500" cy="273900"/>
          </a:xfrm>
          <a:prstGeom prst="rect">
            <a:avLst/>
          </a:prstGeom>
          <a:noFill/>
          <a:ln>
            <a:noFill/>
          </a:ln>
        </p:spPr>
        <p:txBody>
          <a:bodyPr anchorCtr="0" anchor="b" bIns="0" lIns="0" spcFirstLastPara="1" rIns="0" wrap="square" tIns="0">
            <a:noAutofit/>
          </a:bodyPr>
          <a:lstStyle>
            <a:lvl1pPr lvl="0" marR="0" algn="l">
              <a:spcBef>
                <a:spcPts val="0"/>
              </a:spcBef>
              <a:spcAft>
                <a:spcPts val="0"/>
              </a:spcAft>
              <a:buSzPts val="1400"/>
              <a:buNone/>
              <a:defRPr b="0" i="0" sz="900" u="none" cap="none" strike="noStrike">
                <a:solidFill>
                  <a:srgbClr val="19383A"/>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8" name="Google Shape;58;g36ef8836a24_1_437"/>
          <p:cNvSpPr txBox="1"/>
          <p:nvPr>
            <p:ph idx="2" type="body"/>
          </p:nvPr>
        </p:nvSpPr>
        <p:spPr>
          <a:xfrm>
            <a:off x="713185" y="3368040"/>
            <a:ext cx="4290900" cy="440400"/>
          </a:xfrm>
          <a:prstGeom prst="rect">
            <a:avLst/>
          </a:prstGeom>
          <a:noFill/>
          <a:ln>
            <a:noFill/>
          </a:ln>
        </p:spPr>
        <p:txBody>
          <a:bodyPr anchorCtr="0" anchor="t" bIns="0" lIns="0" spcFirstLastPara="1" rIns="0" wrap="square" tIns="0">
            <a:normAutofit/>
          </a:bodyPr>
          <a:lstStyle>
            <a:lvl1pPr indent="-228600" lvl="0" marL="457200" algn="l">
              <a:lnSpc>
                <a:spcPct val="123000"/>
              </a:lnSpc>
              <a:spcBef>
                <a:spcPts val="600"/>
              </a:spcBef>
              <a:spcAft>
                <a:spcPts val="0"/>
              </a:spcAft>
              <a:buSzPts val="1600"/>
              <a:buNone/>
              <a:defRPr sz="1600">
                <a:solidFill>
                  <a:srgbClr val="19383A"/>
                </a:solidFill>
              </a:defRPr>
            </a:lvl1pPr>
            <a:lvl2pPr indent="-228600" lvl="1" marL="914400" algn="l">
              <a:lnSpc>
                <a:spcPct val="123000"/>
              </a:lnSpc>
              <a:spcBef>
                <a:spcPts val="1200"/>
              </a:spcBef>
              <a:spcAft>
                <a:spcPts val="0"/>
              </a:spcAft>
              <a:buSzPts val="1500"/>
              <a:buNone/>
              <a:defRPr sz="1500">
                <a:solidFill>
                  <a:srgbClr val="888888"/>
                </a:solidFill>
              </a:defRPr>
            </a:lvl2pPr>
            <a:lvl3pPr indent="-228600" lvl="2" marL="1371600" algn="l">
              <a:lnSpc>
                <a:spcPct val="123000"/>
              </a:lnSpc>
              <a:spcBef>
                <a:spcPts val="1200"/>
              </a:spcBef>
              <a:spcAft>
                <a:spcPts val="0"/>
              </a:spcAft>
              <a:buSzPts val="1350"/>
              <a:buNone/>
              <a:defRPr sz="1350">
                <a:solidFill>
                  <a:srgbClr val="888888"/>
                </a:solidFill>
              </a:defRPr>
            </a:lvl3pPr>
            <a:lvl4pPr indent="-228600" lvl="3" marL="1828800" algn="l">
              <a:lnSpc>
                <a:spcPct val="123000"/>
              </a:lnSpc>
              <a:spcBef>
                <a:spcPts val="1200"/>
              </a:spcBef>
              <a:spcAft>
                <a:spcPts val="0"/>
              </a:spcAft>
              <a:buSzPts val="1200"/>
              <a:buNone/>
              <a:defRPr sz="1200">
                <a:solidFill>
                  <a:srgbClr val="888888"/>
                </a:solidFill>
              </a:defRPr>
            </a:lvl4pPr>
            <a:lvl5pPr indent="-228600" lvl="4" marL="2286000" algn="l">
              <a:lnSpc>
                <a:spcPct val="123000"/>
              </a:lnSpc>
              <a:spcBef>
                <a:spcPts val="1200"/>
              </a:spcBef>
              <a:spcAft>
                <a:spcPts val="0"/>
              </a:spcAft>
              <a:buSzPts val="1200"/>
              <a:buNone/>
              <a:defRPr sz="1200">
                <a:solidFill>
                  <a:srgbClr val="888888"/>
                </a:solidFill>
              </a:defRPr>
            </a:lvl5pPr>
            <a:lvl6pPr indent="-228600" lvl="5" marL="2743200" algn="l">
              <a:spcBef>
                <a:spcPts val="1200"/>
              </a:spcBef>
              <a:spcAft>
                <a:spcPts val="0"/>
              </a:spcAft>
              <a:buClr>
                <a:srgbClr val="888888"/>
              </a:buClr>
              <a:buSzPts val="1200"/>
              <a:buNone/>
              <a:defRPr sz="1200">
                <a:solidFill>
                  <a:srgbClr val="888888"/>
                </a:solidFill>
              </a:defRPr>
            </a:lvl6pPr>
            <a:lvl7pPr indent="-228600" lvl="6" marL="3200400" algn="l">
              <a:spcBef>
                <a:spcPts val="1200"/>
              </a:spcBef>
              <a:spcAft>
                <a:spcPts val="0"/>
              </a:spcAft>
              <a:buClr>
                <a:srgbClr val="888888"/>
              </a:buClr>
              <a:buSzPts val="1200"/>
              <a:buNone/>
              <a:defRPr sz="1200">
                <a:solidFill>
                  <a:srgbClr val="888888"/>
                </a:solidFill>
              </a:defRPr>
            </a:lvl7pPr>
            <a:lvl8pPr indent="-228600" lvl="7" marL="3657600" algn="l">
              <a:spcBef>
                <a:spcPts val="1200"/>
              </a:spcBef>
              <a:spcAft>
                <a:spcPts val="0"/>
              </a:spcAft>
              <a:buClr>
                <a:srgbClr val="888888"/>
              </a:buClr>
              <a:buSzPts val="1200"/>
              <a:buNone/>
              <a:defRPr sz="1200">
                <a:solidFill>
                  <a:srgbClr val="888888"/>
                </a:solidFill>
              </a:defRPr>
            </a:lvl8pPr>
            <a:lvl9pPr indent="-228600" lvl="8" marL="4114800" algn="l">
              <a:spcBef>
                <a:spcPts val="1200"/>
              </a:spcBef>
              <a:spcAft>
                <a:spcPts val="1200"/>
              </a:spcAft>
              <a:buClr>
                <a:srgbClr val="888888"/>
              </a:buClr>
              <a:buSzPts val="1200"/>
              <a:buNone/>
              <a:defRPr sz="1200">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одержание">
  <p:cSld name="Содержание">
    <p:spTree>
      <p:nvGrpSpPr>
        <p:cNvPr id="59" name="Shape 59"/>
        <p:cNvGrpSpPr/>
        <p:nvPr/>
      </p:nvGrpSpPr>
      <p:grpSpPr>
        <a:xfrm>
          <a:off x="0" y="0"/>
          <a:ext cx="0" cy="0"/>
          <a:chOff x="0" y="0"/>
          <a:chExt cx="0" cy="0"/>
        </a:xfrm>
      </p:grpSpPr>
      <p:sp>
        <p:nvSpPr>
          <p:cNvPr id="60" name="Google Shape;60;g36ef8836a24_1_442"/>
          <p:cNvSpPr txBox="1"/>
          <p:nvPr>
            <p:ph idx="12" type="sldNum"/>
          </p:nvPr>
        </p:nvSpPr>
        <p:spPr>
          <a:xfrm>
            <a:off x="287736" y="4587974"/>
            <a:ext cx="282600" cy="321900"/>
          </a:xfrm>
          <a:prstGeom prst="rect">
            <a:avLst/>
          </a:prstGeom>
          <a:noFill/>
          <a:ln>
            <a:noFill/>
          </a:ln>
        </p:spPr>
        <p:txBody>
          <a:bodyPr anchorCtr="0" anchor="b" bIns="0" lIns="0" spcFirstLastPara="1" rIns="0" wrap="square" tIns="0">
            <a:normAutofit/>
          </a:bodyPr>
          <a:lstStyle>
            <a:lvl1pPr indent="0" lvl="0" marL="0" marR="0" algn="l">
              <a:spcBef>
                <a:spcPts val="0"/>
              </a:spcBef>
              <a:buNone/>
              <a:defRPr b="0" i="0" sz="900" u="none" cap="none" strike="noStrike">
                <a:solidFill>
                  <a:srgbClr val="7F7F7F"/>
                </a:solidFill>
                <a:latin typeface="Arial"/>
                <a:ea typeface="Arial"/>
                <a:cs typeface="Arial"/>
                <a:sym typeface="Arial"/>
              </a:defRPr>
            </a:lvl1pPr>
            <a:lvl2pPr indent="0" lvl="1" marL="0" marR="0" algn="l">
              <a:spcBef>
                <a:spcPts val="0"/>
              </a:spcBef>
              <a:buNone/>
              <a:defRPr b="0" i="0" sz="900" u="none" cap="none" strike="noStrike">
                <a:solidFill>
                  <a:srgbClr val="7F7F7F"/>
                </a:solidFill>
                <a:latin typeface="Arial"/>
                <a:ea typeface="Arial"/>
                <a:cs typeface="Arial"/>
                <a:sym typeface="Arial"/>
              </a:defRPr>
            </a:lvl2pPr>
            <a:lvl3pPr indent="0" lvl="2" marL="0" marR="0" algn="l">
              <a:spcBef>
                <a:spcPts val="0"/>
              </a:spcBef>
              <a:buNone/>
              <a:defRPr b="0" i="0" sz="900" u="none" cap="none" strike="noStrike">
                <a:solidFill>
                  <a:srgbClr val="7F7F7F"/>
                </a:solidFill>
                <a:latin typeface="Arial"/>
                <a:ea typeface="Arial"/>
                <a:cs typeface="Arial"/>
                <a:sym typeface="Arial"/>
              </a:defRPr>
            </a:lvl3pPr>
            <a:lvl4pPr indent="0" lvl="3" marL="0" marR="0" algn="l">
              <a:spcBef>
                <a:spcPts val="0"/>
              </a:spcBef>
              <a:buNone/>
              <a:defRPr b="0" i="0" sz="900" u="none" cap="none" strike="noStrike">
                <a:solidFill>
                  <a:srgbClr val="7F7F7F"/>
                </a:solidFill>
                <a:latin typeface="Arial"/>
                <a:ea typeface="Arial"/>
                <a:cs typeface="Arial"/>
                <a:sym typeface="Arial"/>
              </a:defRPr>
            </a:lvl4pPr>
            <a:lvl5pPr indent="0" lvl="4" marL="0" marR="0" algn="l">
              <a:spcBef>
                <a:spcPts val="0"/>
              </a:spcBef>
              <a:buNone/>
              <a:defRPr b="0" i="0" sz="900" u="none" cap="none" strike="noStrike">
                <a:solidFill>
                  <a:srgbClr val="7F7F7F"/>
                </a:solidFill>
                <a:latin typeface="Arial"/>
                <a:ea typeface="Arial"/>
                <a:cs typeface="Arial"/>
                <a:sym typeface="Arial"/>
              </a:defRPr>
            </a:lvl5pPr>
            <a:lvl6pPr indent="0" lvl="5" marL="0" marR="0" algn="l">
              <a:spcBef>
                <a:spcPts val="0"/>
              </a:spcBef>
              <a:buNone/>
              <a:defRPr b="0" i="0" sz="900" u="none" cap="none" strike="noStrike">
                <a:solidFill>
                  <a:srgbClr val="7F7F7F"/>
                </a:solidFill>
                <a:latin typeface="Arial"/>
                <a:ea typeface="Arial"/>
                <a:cs typeface="Arial"/>
                <a:sym typeface="Arial"/>
              </a:defRPr>
            </a:lvl6pPr>
            <a:lvl7pPr indent="0" lvl="6" marL="0" marR="0" algn="l">
              <a:spcBef>
                <a:spcPts val="0"/>
              </a:spcBef>
              <a:buNone/>
              <a:defRPr b="0" i="0" sz="900" u="none" cap="none" strike="noStrike">
                <a:solidFill>
                  <a:srgbClr val="7F7F7F"/>
                </a:solidFill>
                <a:latin typeface="Arial"/>
                <a:ea typeface="Arial"/>
                <a:cs typeface="Arial"/>
                <a:sym typeface="Arial"/>
              </a:defRPr>
            </a:lvl7pPr>
            <a:lvl8pPr indent="0" lvl="7" marL="0" marR="0" algn="l">
              <a:spcBef>
                <a:spcPts val="0"/>
              </a:spcBef>
              <a:buNone/>
              <a:defRPr b="0" i="0" sz="900" u="none" cap="none" strike="noStrike">
                <a:solidFill>
                  <a:srgbClr val="7F7F7F"/>
                </a:solidFill>
                <a:latin typeface="Arial"/>
                <a:ea typeface="Arial"/>
                <a:cs typeface="Arial"/>
                <a:sym typeface="Arial"/>
              </a:defRPr>
            </a:lvl8pPr>
            <a:lvl9pPr indent="0" lvl="8" marL="0" marR="0" algn="l">
              <a:spcBef>
                <a:spcPts val="0"/>
              </a:spcBef>
              <a:buNone/>
              <a:defRPr b="0" i="0" sz="900" u="none" cap="none" strike="noStrike">
                <a:solidFill>
                  <a:srgbClr val="7F7F7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de-DE"/>
              <a:t>‹#›</a:t>
            </a:fld>
            <a:endParaRPr/>
          </a:p>
        </p:txBody>
      </p:sp>
      <p:pic>
        <p:nvPicPr>
          <p:cNvPr id="61" name="Google Shape;61;g36ef8836a24_1_442"/>
          <p:cNvPicPr preferRelativeResize="0"/>
          <p:nvPr/>
        </p:nvPicPr>
        <p:blipFill rotWithShape="1">
          <a:blip r:embed="rId2">
            <a:alphaModFix/>
          </a:blip>
          <a:srcRect b="0" l="0" r="0" t="0"/>
          <a:stretch/>
        </p:blipFill>
        <p:spPr>
          <a:xfrm>
            <a:off x="8172005" y="4706445"/>
            <a:ext cx="682674" cy="229378"/>
          </a:xfrm>
          <a:prstGeom prst="rect">
            <a:avLst/>
          </a:prstGeom>
          <a:noFill/>
          <a:ln>
            <a:noFill/>
          </a:ln>
        </p:spPr>
      </p:pic>
      <p:sp>
        <p:nvSpPr>
          <p:cNvPr id="62" name="Google Shape;62;g36ef8836a24_1_442"/>
          <p:cNvSpPr txBox="1"/>
          <p:nvPr>
            <p:ph type="title"/>
          </p:nvPr>
        </p:nvSpPr>
        <p:spPr>
          <a:xfrm>
            <a:off x="282575" y="268285"/>
            <a:ext cx="8569200" cy="64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19383A"/>
              </a:buClr>
              <a:buSzPts val="2400"/>
              <a:buFont typeface="Arial"/>
              <a:buNone/>
              <a:defRPr b="1" sz="2400">
                <a:solidFill>
                  <a:srgbClr val="19383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ительный слайд">
  <p:cSld name="Разделительный слайд">
    <p:spTree>
      <p:nvGrpSpPr>
        <p:cNvPr id="63" name="Shape 63"/>
        <p:cNvGrpSpPr/>
        <p:nvPr/>
      </p:nvGrpSpPr>
      <p:grpSpPr>
        <a:xfrm>
          <a:off x="0" y="0"/>
          <a:ext cx="0" cy="0"/>
          <a:chOff x="0" y="0"/>
          <a:chExt cx="0" cy="0"/>
        </a:xfrm>
      </p:grpSpPr>
      <p:sp>
        <p:nvSpPr>
          <p:cNvPr id="64" name="Google Shape;64;g36ef8836a24_1_446"/>
          <p:cNvSpPr/>
          <p:nvPr/>
        </p:nvSpPr>
        <p:spPr>
          <a:xfrm>
            <a:off x="6138174" y="2150160"/>
            <a:ext cx="2565000" cy="2565000"/>
          </a:xfrm>
          <a:prstGeom prst="triangle">
            <a:avLst>
              <a:gd fmla="val 100000" name="adj"/>
            </a:avLst>
          </a:prstGeom>
          <a:solidFill>
            <a:srgbClr val="E4E9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65" name="Google Shape;65;g36ef8836a24_1_446"/>
          <p:cNvSpPr txBox="1"/>
          <p:nvPr>
            <p:ph type="ctrTitle"/>
          </p:nvPr>
        </p:nvSpPr>
        <p:spPr>
          <a:xfrm>
            <a:off x="430306" y="754768"/>
            <a:ext cx="5999100" cy="17907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rgbClr val="19393B"/>
              </a:buClr>
              <a:buSzPts val="4000"/>
              <a:buFont typeface="Arial"/>
              <a:buNone/>
              <a:defRPr sz="4000">
                <a:solidFill>
                  <a:srgbClr val="19393B"/>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g36ef8836a24_1_446"/>
          <p:cNvSpPr txBox="1"/>
          <p:nvPr>
            <p:ph idx="1" type="subTitle"/>
          </p:nvPr>
        </p:nvSpPr>
        <p:spPr>
          <a:xfrm>
            <a:off x="428625" y="2823882"/>
            <a:ext cx="6000900" cy="1205100"/>
          </a:xfrm>
          <a:prstGeom prst="rect">
            <a:avLst/>
          </a:prstGeom>
          <a:noFill/>
          <a:ln>
            <a:noFill/>
          </a:ln>
        </p:spPr>
        <p:txBody>
          <a:bodyPr anchorCtr="0" anchor="t" bIns="0" lIns="0" spcFirstLastPara="1" rIns="0" wrap="square" tIns="0">
            <a:normAutofit/>
          </a:bodyPr>
          <a:lstStyle>
            <a:lvl1pPr lvl="0" algn="l">
              <a:lnSpc>
                <a:spcPct val="123000"/>
              </a:lnSpc>
              <a:spcBef>
                <a:spcPts val="600"/>
              </a:spcBef>
              <a:spcAft>
                <a:spcPts val="0"/>
              </a:spcAft>
              <a:buSzPts val="1600"/>
              <a:buNone/>
              <a:defRPr sz="1600">
                <a:solidFill>
                  <a:srgbClr val="00AD21"/>
                </a:solidFill>
              </a:defRPr>
            </a:lvl1pPr>
            <a:lvl2pPr lvl="1" algn="ctr">
              <a:lnSpc>
                <a:spcPct val="123000"/>
              </a:lnSpc>
              <a:spcBef>
                <a:spcPts val="1200"/>
              </a:spcBef>
              <a:spcAft>
                <a:spcPts val="0"/>
              </a:spcAft>
              <a:buSzPts val="1500"/>
              <a:buNone/>
              <a:defRPr sz="1500"/>
            </a:lvl2pPr>
            <a:lvl3pPr lvl="2" algn="ctr">
              <a:lnSpc>
                <a:spcPct val="123000"/>
              </a:lnSpc>
              <a:spcBef>
                <a:spcPts val="1200"/>
              </a:spcBef>
              <a:spcAft>
                <a:spcPts val="0"/>
              </a:spcAft>
              <a:buSzPts val="1350"/>
              <a:buNone/>
              <a:defRPr sz="1350"/>
            </a:lvl3pPr>
            <a:lvl4pPr lvl="3" algn="ctr">
              <a:lnSpc>
                <a:spcPct val="123000"/>
              </a:lnSpc>
              <a:spcBef>
                <a:spcPts val="1200"/>
              </a:spcBef>
              <a:spcAft>
                <a:spcPts val="0"/>
              </a:spcAft>
              <a:buSzPts val="1200"/>
              <a:buNone/>
              <a:defRPr sz="1200"/>
            </a:lvl4pPr>
            <a:lvl5pPr lvl="4" algn="ctr">
              <a:lnSpc>
                <a:spcPct val="123000"/>
              </a:lnSpc>
              <a:spcBef>
                <a:spcPts val="1200"/>
              </a:spcBef>
              <a:spcAft>
                <a:spcPts val="0"/>
              </a:spcAft>
              <a:buSzPts val="1200"/>
              <a:buNone/>
              <a:defRPr sz="1200"/>
            </a:lvl5pPr>
            <a:lvl6pPr lvl="5" algn="ctr">
              <a:spcBef>
                <a:spcPts val="1200"/>
              </a:spcBef>
              <a:spcAft>
                <a:spcPts val="0"/>
              </a:spcAft>
              <a:buClr>
                <a:schemeClr val="dk1"/>
              </a:buClr>
              <a:buSzPts val="1200"/>
              <a:buNone/>
              <a:defRPr sz="1200"/>
            </a:lvl6pPr>
            <a:lvl7pPr lvl="6" algn="ctr">
              <a:spcBef>
                <a:spcPts val="1200"/>
              </a:spcBef>
              <a:spcAft>
                <a:spcPts val="0"/>
              </a:spcAft>
              <a:buClr>
                <a:schemeClr val="dk1"/>
              </a:buClr>
              <a:buSzPts val="1200"/>
              <a:buNone/>
              <a:defRPr sz="1200"/>
            </a:lvl7pPr>
            <a:lvl8pPr lvl="7" algn="ctr">
              <a:spcBef>
                <a:spcPts val="1200"/>
              </a:spcBef>
              <a:spcAft>
                <a:spcPts val="0"/>
              </a:spcAft>
              <a:buClr>
                <a:schemeClr val="dk1"/>
              </a:buClr>
              <a:buSzPts val="1200"/>
              <a:buNone/>
              <a:defRPr sz="1200"/>
            </a:lvl8pPr>
            <a:lvl9pPr lvl="8" algn="ctr">
              <a:spcBef>
                <a:spcPts val="1200"/>
              </a:spcBef>
              <a:spcAft>
                <a:spcPts val="1200"/>
              </a:spcAft>
              <a:buClr>
                <a:schemeClr val="dk1"/>
              </a:buClr>
              <a:buSzPts val="1200"/>
              <a:buNone/>
              <a:defRPr sz="1200"/>
            </a:lvl9pPr>
          </a:lstStyle>
          <a:p/>
        </p:txBody>
      </p:sp>
      <p:sp>
        <p:nvSpPr>
          <p:cNvPr id="67" name="Google Shape;67;g36ef8836a24_1_446"/>
          <p:cNvSpPr txBox="1"/>
          <p:nvPr>
            <p:ph idx="2" type="body"/>
          </p:nvPr>
        </p:nvSpPr>
        <p:spPr>
          <a:xfrm>
            <a:off x="5599809" y="933281"/>
            <a:ext cx="3103500" cy="3975000"/>
          </a:xfrm>
          <a:prstGeom prst="rect">
            <a:avLst/>
          </a:prstGeom>
          <a:noFill/>
          <a:ln>
            <a:noFill/>
          </a:ln>
        </p:spPr>
        <p:txBody>
          <a:bodyPr anchorCtr="0" anchor="t" bIns="0" lIns="0" spcFirstLastPara="1" rIns="0" wrap="square" tIns="0">
            <a:spAutoFit/>
          </a:bodyPr>
          <a:lstStyle>
            <a:lvl1pPr indent="-228600" lvl="0" marL="457200" algn="ctr">
              <a:lnSpc>
                <a:spcPct val="123000"/>
              </a:lnSpc>
              <a:spcBef>
                <a:spcPts val="600"/>
              </a:spcBef>
              <a:spcAft>
                <a:spcPts val="0"/>
              </a:spcAft>
              <a:buSzPts val="21000"/>
              <a:buNone/>
              <a:defRPr b="1" sz="21000">
                <a:solidFill>
                  <a:srgbClr val="00AD21"/>
                </a:solidFill>
              </a:defRPr>
            </a:lvl1pPr>
            <a:lvl2pPr indent="-228600" lvl="1" marL="914400" algn="l">
              <a:lnSpc>
                <a:spcPct val="123000"/>
              </a:lnSpc>
              <a:spcBef>
                <a:spcPts val="1200"/>
              </a:spcBef>
              <a:spcAft>
                <a:spcPts val="0"/>
              </a:spcAft>
              <a:buSzPts val="1500"/>
              <a:buNone/>
              <a:defRPr sz="1500">
                <a:solidFill>
                  <a:srgbClr val="888888"/>
                </a:solidFill>
              </a:defRPr>
            </a:lvl2pPr>
            <a:lvl3pPr indent="-228600" lvl="2" marL="1371600" algn="l">
              <a:lnSpc>
                <a:spcPct val="123000"/>
              </a:lnSpc>
              <a:spcBef>
                <a:spcPts val="1200"/>
              </a:spcBef>
              <a:spcAft>
                <a:spcPts val="0"/>
              </a:spcAft>
              <a:buSzPts val="1350"/>
              <a:buNone/>
              <a:defRPr sz="1350">
                <a:solidFill>
                  <a:srgbClr val="888888"/>
                </a:solidFill>
              </a:defRPr>
            </a:lvl3pPr>
            <a:lvl4pPr indent="-228600" lvl="3" marL="1828800" algn="l">
              <a:lnSpc>
                <a:spcPct val="123000"/>
              </a:lnSpc>
              <a:spcBef>
                <a:spcPts val="1200"/>
              </a:spcBef>
              <a:spcAft>
                <a:spcPts val="0"/>
              </a:spcAft>
              <a:buSzPts val="1200"/>
              <a:buNone/>
              <a:defRPr sz="1200">
                <a:solidFill>
                  <a:srgbClr val="888888"/>
                </a:solidFill>
              </a:defRPr>
            </a:lvl4pPr>
            <a:lvl5pPr indent="-228600" lvl="4" marL="2286000" algn="l">
              <a:lnSpc>
                <a:spcPct val="123000"/>
              </a:lnSpc>
              <a:spcBef>
                <a:spcPts val="1200"/>
              </a:spcBef>
              <a:spcAft>
                <a:spcPts val="0"/>
              </a:spcAft>
              <a:buSzPts val="1200"/>
              <a:buNone/>
              <a:defRPr sz="1200">
                <a:solidFill>
                  <a:srgbClr val="888888"/>
                </a:solidFill>
              </a:defRPr>
            </a:lvl5pPr>
            <a:lvl6pPr indent="-228600" lvl="5" marL="2743200" algn="l">
              <a:spcBef>
                <a:spcPts val="1200"/>
              </a:spcBef>
              <a:spcAft>
                <a:spcPts val="0"/>
              </a:spcAft>
              <a:buClr>
                <a:srgbClr val="888888"/>
              </a:buClr>
              <a:buSzPts val="1200"/>
              <a:buNone/>
              <a:defRPr sz="1200">
                <a:solidFill>
                  <a:srgbClr val="888888"/>
                </a:solidFill>
              </a:defRPr>
            </a:lvl6pPr>
            <a:lvl7pPr indent="-228600" lvl="6" marL="3200400" algn="l">
              <a:spcBef>
                <a:spcPts val="1200"/>
              </a:spcBef>
              <a:spcAft>
                <a:spcPts val="0"/>
              </a:spcAft>
              <a:buClr>
                <a:srgbClr val="888888"/>
              </a:buClr>
              <a:buSzPts val="1200"/>
              <a:buNone/>
              <a:defRPr sz="1200">
                <a:solidFill>
                  <a:srgbClr val="888888"/>
                </a:solidFill>
              </a:defRPr>
            </a:lvl7pPr>
            <a:lvl8pPr indent="-228600" lvl="7" marL="3657600" algn="l">
              <a:spcBef>
                <a:spcPts val="1200"/>
              </a:spcBef>
              <a:spcAft>
                <a:spcPts val="0"/>
              </a:spcAft>
              <a:buClr>
                <a:srgbClr val="888888"/>
              </a:buClr>
              <a:buSzPts val="1200"/>
              <a:buNone/>
              <a:defRPr sz="1200">
                <a:solidFill>
                  <a:srgbClr val="888888"/>
                </a:solidFill>
              </a:defRPr>
            </a:lvl8pPr>
            <a:lvl9pPr indent="-228600" lvl="8" marL="4114800" algn="l">
              <a:spcBef>
                <a:spcPts val="1200"/>
              </a:spcBef>
              <a:spcAft>
                <a:spcPts val="1200"/>
              </a:spcAft>
              <a:buClr>
                <a:srgbClr val="888888"/>
              </a:buClr>
              <a:buSzPts val="1200"/>
              <a:buNone/>
              <a:defRPr sz="1200">
                <a:solidFill>
                  <a:srgbClr val="888888"/>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p:cSld name="Пустой слайд">
    <p:spTree>
      <p:nvGrpSpPr>
        <p:cNvPr id="68" name="Shape 68"/>
        <p:cNvGrpSpPr/>
        <p:nvPr/>
      </p:nvGrpSpPr>
      <p:grpSpPr>
        <a:xfrm>
          <a:off x="0" y="0"/>
          <a:ext cx="0" cy="0"/>
          <a:chOff x="0" y="0"/>
          <a:chExt cx="0" cy="0"/>
        </a:xfrm>
      </p:grpSpPr>
      <p:sp>
        <p:nvSpPr>
          <p:cNvPr id="69" name="Google Shape;69;g36ef8836a24_1_451"/>
          <p:cNvSpPr txBox="1"/>
          <p:nvPr>
            <p:ph type="title"/>
          </p:nvPr>
        </p:nvSpPr>
        <p:spPr>
          <a:xfrm>
            <a:off x="282575" y="268285"/>
            <a:ext cx="8569200" cy="64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19383A"/>
              </a:buClr>
              <a:buSzPts val="2400"/>
              <a:buFont typeface="Arial"/>
              <a:buNone/>
              <a:defRPr b="1" sz="2400">
                <a:solidFill>
                  <a:srgbClr val="19383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g36ef8836a24_1_451"/>
          <p:cNvSpPr txBox="1"/>
          <p:nvPr>
            <p:ph idx="12" type="sldNum"/>
          </p:nvPr>
        </p:nvSpPr>
        <p:spPr>
          <a:xfrm>
            <a:off x="287736" y="4587974"/>
            <a:ext cx="282600" cy="321900"/>
          </a:xfrm>
          <a:prstGeom prst="rect">
            <a:avLst/>
          </a:prstGeom>
          <a:noFill/>
          <a:ln>
            <a:noFill/>
          </a:ln>
        </p:spPr>
        <p:txBody>
          <a:bodyPr anchorCtr="0" anchor="b" bIns="0" lIns="0" spcFirstLastPara="1" rIns="0" wrap="square" tIns="0">
            <a:normAutofit/>
          </a:bodyPr>
          <a:lstStyle>
            <a:lvl1pPr indent="0" lvl="0" marL="0" marR="0" algn="l">
              <a:spcBef>
                <a:spcPts val="0"/>
              </a:spcBef>
              <a:buNone/>
              <a:defRPr b="0" i="0" sz="900" u="none" cap="none" strike="noStrike">
                <a:solidFill>
                  <a:srgbClr val="7F7F7F"/>
                </a:solidFill>
                <a:latin typeface="Arial"/>
                <a:ea typeface="Arial"/>
                <a:cs typeface="Arial"/>
                <a:sym typeface="Arial"/>
              </a:defRPr>
            </a:lvl1pPr>
            <a:lvl2pPr indent="0" lvl="1" marL="0" marR="0" algn="l">
              <a:spcBef>
                <a:spcPts val="0"/>
              </a:spcBef>
              <a:buNone/>
              <a:defRPr b="0" i="0" sz="900" u="none" cap="none" strike="noStrike">
                <a:solidFill>
                  <a:srgbClr val="7F7F7F"/>
                </a:solidFill>
                <a:latin typeface="Arial"/>
                <a:ea typeface="Arial"/>
                <a:cs typeface="Arial"/>
                <a:sym typeface="Arial"/>
              </a:defRPr>
            </a:lvl2pPr>
            <a:lvl3pPr indent="0" lvl="2" marL="0" marR="0" algn="l">
              <a:spcBef>
                <a:spcPts val="0"/>
              </a:spcBef>
              <a:buNone/>
              <a:defRPr b="0" i="0" sz="900" u="none" cap="none" strike="noStrike">
                <a:solidFill>
                  <a:srgbClr val="7F7F7F"/>
                </a:solidFill>
                <a:latin typeface="Arial"/>
                <a:ea typeface="Arial"/>
                <a:cs typeface="Arial"/>
                <a:sym typeface="Arial"/>
              </a:defRPr>
            </a:lvl3pPr>
            <a:lvl4pPr indent="0" lvl="3" marL="0" marR="0" algn="l">
              <a:spcBef>
                <a:spcPts val="0"/>
              </a:spcBef>
              <a:buNone/>
              <a:defRPr b="0" i="0" sz="900" u="none" cap="none" strike="noStrike">
                <a:solidFill>
                  <a:srgbClr val="7F7F7F"/>
                </a:solidFill>
                <a:latin typeface="Arial"/>
                <a:ea typeface="Arial"/>
                <a:cs typeface="Arial"/>
                <a:sym typeface="Arial"/>
              </a:defRPr>
            </a:lvl4pPr>
            <a:lvl5pPr indent="0" lvl="4" marL="0" marR="0" algn="l">
              <a:spcBef>
                <a:spcPts val="0"/>
              </a:spcBef>
              <a:buNone/>
              <a:defRPr b="0" i="0" sz="900" u="none" cap="none" strike="noStrike">
                <a:solidFill>
                  <a:srgbClr val="7F7F7F"/>
                </a:solidFill>
                <a:latin typeface="Arial"/>
                <a:ea typeface="Arial"/>
                <a:cs typeface="Arial"/>
                <a:sym typeface="Arial"/>
              </a:defRPr>
            </a:lvl5pPr>
            <a:lvl6pPr indent="0" lvl="5" marL="0" marR="0" algn="l">
              <a:spcBef>
                <a:spcPts val="0"/>
              </a:spcBef>
              <a:buNone/>
              <a:defRPr b="0" i="0" sz="900" u="none" cap="none" strike="noStrike">
                <a:solidFill>
                  <a:srgbClr val="7F7F7F"/>
                </a:solidFill>
                <a:latin typeface="Arial"/>
                <a:ea typeface="Arial"/>
                <a:cs typeface="Arial"/>
                <a:sym typeface="Arial"/>
              </a:defRPr>
            </a:lvl6pPr>
            <a:lvl7pPr indent="0" lvl="6" marL="0" marR="0" algn="l">
              <a:spcBef>
                <a:spcPts val="0"/>
              </a:spcBef>
              <a:buNone/>
              <a:defRPr b="0" i="0" sz="900" u="none" cap="none" strike="noStrike">
                <a:solidFill>
                  <a:srgbClr val="7F7F7F"/>
                </a:solidFill>
                <a:latin typeface="Arial"/>
                <a:ea typeface="Arial"/>
                <a:cs typeface="Arial"/>
                <a:sym typeface="Arial"/>
              </a:defRPr>
            </a:lvl7pPr>
            <a:lvl8pPr indent="0" lvl="7" marL="0" marR="0" algn="l">
              <a:spcBef>
                <a:spcPts val="0"/>
              </a:spcBef>
              <a:buNone/>
              <a:defRPr b="0" i="0" sz="900" u="none" cap="none" strike="noStrike">
                <a:solidFill>
                  <a:srgbClr val="7F7F7F"/>
                </a:solidFill>
                <a:latin typeface="Arial"/>
                <a:ea typeface="Arial"/>
                <a:cs typeface="Arial"/>
                <a:sym typeface="Arial"/>
              </a:defRPr>
            </a:lvl8pPr>
            <a:lvl9pPr indent="0" lvl="8" marL="0" marR="0" algn="l">
              <a:spcBef>
                <a:spcPts val="0"/>
              </a:spcBef>
              <a:buNone/>
              <a:defRPr b="0" i="0" sz="900" u="none" cap="none" strike="noStrike">
                <a:solidFill>
                  <a:srgbClr val="7F7F7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de-DE"/>
              <a:t>‹#›</a:t>
            </a:fld>
            <a:endParaRPr/>
          </a:p>
        </p:txBody>
      </p:sp>
      <p:pic>
        <p:nvPicPr>
          <p:cNvPr id="71" name="Google Shape;71;g36ef8836a24_1_451"/>
          <p:cNvPicPr preferRelativeResize="0"/>
          <p:nvPr/>
        </p:nvPicPr>
        <p:blipFill rotWithShape="1">
          <a:blip r:embed="rId2">
            <a:alphaModFix/>
          </a:blip>
          <a:srcRect b="0" l="0" r="0" t="0"/>
          <a:stretch/>
        </p:blipFill>
        <p:spPr>
          <a:xfrm>
            <a:off x="8172005" y="4706445"/>
            <a:ext cx="682674" cy="22937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p:cSld name="Demo">
    <p:spTree>
      <p:nvGrpSpPr>
        <p:cNvPr id="72" name="Shape 72"/>
        <p:cNvGrpSpPr/>
        <p:nvPr/>
      </p:nvGrpSpPr>
      <p:grpSpPr>
        <a:xfrm>
          <a:off x="0" y="0"/>
          <a:ext cx="0" cy="0"/>
          <a:chOff x="0" y="0"/>
          <a:chExt cx="0" cy="0"/>
        </a:xfrm>
      </p:grpSpPr>
      <p:sp>
        <p:nvSpPr>
          <p:cNvPr id="73" name="Google Shape;73;g36ef8836a24_1_455"/>
          <p:cNvSpPr/>
          <p:nvPr/>
        </p:nvSpPr>
        <p:spPr>
          <a:xfrm rot="5400000">
            <a:off x="395467" y="411510"/>
            <a:ext cx="2088300" cy="2088300"/>
          </a:xfrm>
          <a:prstGeom prst="rtTriangle">
            <a:avLst/>
          </a:prstGeom>
          <a:solidFill>
            <a:srgbClr val="00AD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 name="Google Shape;74;g36ef8836a24_1_455"/>
          <p:cNvSpPr/>
          <p:nvPr/>
        </p:nvSpPr>
        <p:spPr>
          <a:xfrm rot="-5400000">
            <a:off x="6876256" y="2931927"/>
            <a:ext cx="1808400" cy="1808400"/>
          </a:xfrm>
          <a:prstGeom prst="rtTriangle">
            <a:avLst/>
          </a:prstGeom>
          <a:solidFill>
            <a:srgbClr val="E4E9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Финальный слайд Светлый">
  <p:cSld name="Финальный слайд Светлый">
    <p:spTree>
      <p:nvGrpSpPr>
        <p:cNvPr id="75" name="Shape 75"/>
        <p:cNvGrpSpPr/>
        <p:nvPr/>
      </p:nvGrpSpPr>
      <p:grpSpPr>
        <a:xfrm>
          <a:off x="0" y="0"/>
          <a:ext cx="0" cy="0"/>
          <a:chOff x="0" y="0"/>
          <a:chExt cx="0" cy="0"/>
        </a:xfrm>
      </p:grpSpPr>
      <p:pic>
        <p:nvPicPr>
          <p:cNvPr id="76" name="Google Shape;76;g36ef8836a24_1_458"/>
          <p:cNvPicPr preferRelativeResize="0"/>
          <p:nvPr/>
        </p:nvPicPr>
        <p:blipFill rotWithShape="1">
          <a:blip r:embed="rId2">
            <a:alphaModFix/>
          </a:blip>
          <a:srcRect b="0" l="0" r="0" t="0"/>
          <a:stretch/>
        </p:blipFill>
        <p:spPr>
          <a:xfrm>
            <a:off x="889" y="0"/>
            <a:ext cx="9146285" cy="5145788"/>
          </a:xfrm>
          <a:prstGeom prst="rect">
            <a:avLst/>
          </a:prstGeom>
          <a:noFill/>
          <a:ln>
            <a:noFill/>
          </a:ln>
        </p:spPr>
      </p:pic>
      <p:sp>
        <p:nvSpPr>
          <p:cNvPr id="77" name="Google Shape;77;g36ef8836a24_1_458"/>
          <p:cNvSpPr txBox="1"/>
          <p:nvPr>
            <p:ph type="ctrTitle"/>
          </p:nvPr>
        </p:nvSpPr>
        <p:spPr>
          <a:xfrm>
            <a:off x="755576" y="987574"/>
            <a:ext cx="5997600" cy="863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19383A"/>
              </a:buClr>
              <a:buSzPts val="4000"/>
              <a:buFont typeface="Arial"/>
              <a:buNone/>
              <a:defRPr b="1" i="0" sz="4000">
                <a:solidFill>
                  <a:srgbClr val="19383A"/>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 name="Google Shape;78;g36ef8836a24_1_458"/>
          <p:cNvSpPr/>
          <p:nvPr/>
        </p:nvSpPr>
        <p:spPr>
          <a:xfrm>
            <a:off x="712590" y="3186268"/>
            <a:ext cx="5895300" cy="1539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lang="de-DE" sz="600">
                <a:solidFill>
                  <a:srgbClr val="595959"/>
                </a:solidFill>
                <a:latin typeface="Arial"/>
                <a:ea typeface="Arial"/>
                <a:cs typeface="Arial"/>
                <a:sym typeface="Arial"/>
              </a:rPr>
              <a:t>This document contains unpublished, confidential and proprietary information of PETER-SERVICE, JSC that is protected by copyright and other intellectual property laws.</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PETER-SERVICE, JSC software and its related documentation are subject to and made available only pursuant to the terms of a separate license agreement to be entered into with PETER-SERVICE, JSC and may be used or copied only in accordance with the terms of such agreement.</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Any use, copying, reproduction, alterations, transmission or translation of these materials, in whole or in part, in any form or by any means, without the prior written permission of PETER-SERVICE, JSC is strictly prohibited </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If this material is provided with software licensed by PETER-SERVICE, JSC , the information herein is provided subject to the terms of the warranty provided with a software license. If this material is not provided with licensed software, the information herein is provided “as is” without warranty of any kind. In either case, there are no other warranties, either express or implied, including, but not limited to the implied warranties of merchantability, fitness for a particular purpose, non-infringement, or quality. In no event shall PETER-SERVICE, JSC or any of its affiliates be liable for any direct or indirect, special incidental, consequential, punitive or exemplary damages arising out of the use or inability to use the materials and/or information contained herein. Some jurisdictions do not allow the exclusion of implied warranties, so the above exclusion may not apply to you. </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PETER-SERVICE, JSC takes reasonable measures to ensure the quality of the information produced by PETER-SERVICE, JSC that is made available herein. However, these materials may contain technical inaccuracies or typographical errors, and are not guaranteed to be error-free. Information may be changed or updated without notice. PETER-SERVICE, JSC has no obligation to update the information in this material based on changes to its products or services or those of third parties. PETER-SERVICE, JSC may also make improvements or changes to the products or services described in this material at any time without notice.</a:t>
            </a:r>
            <a:endParaRPr sz="600">
              <a:solidFill>
                <a:srgbClr val="595959"/>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6ef8836a24_1_3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36ef8836a24_1_3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g36ef8836a24_1_3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D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testlink.org/" TargetMode="External"/><Relationship Id="rId4" Type="http://schemas.openxmlformats.org/officeDocument/2006/relationships/hyperlink" Target="https://brunoyamlearn.testrail.io/index.php?/cases/view/1" TargetMode="External"/><Relationship Id="rId5" Type="http://schemas.openxmlformats.org/officeDocument/2006/relationships/hyperlink" Target="https://qameta.io/"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4.jpg"/><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https://www.istqb.org/downloads/send/51-ctfl2018/208-ctfl-2018-syllabus.html" TargetMode="External"/><Relationship Id="rId4" Type="http://schemas.openxmlformats.org/officeDocument/2006/relationships/hyperlink" Target="https://vk.com/away.php?to=http://www.mit.jyu.fi/ope/kurssit/TIES462/Materiaalit/IEEE_SoftwareEngGlossary.pdf&amp;post=-148972715_4&amp;cc_key=" TargetMode="External"/><Relationship Id="rId5" Type="http://schemas.openxmlformats.org/officeDocument/2006/relationships/hyperlink" Target="http://softwaretestingfundamentals.com/" TargetMode="External"/><Relationship Id="rId6" Type="http://schemas.openxmlformats.org/officeDocument/2006/relationships/hyperlink" Target="https://svyatoslav.biz/software_testing_book_download/" TargetMode="External"/><Relationship Id="rId7" Type="http://schemas.openxmlformats.org/officeDocument/2006/relationships/hyperlink" Target="http://wiki.software-testing.r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713185" y="407906"/>
            <a:ext cx="7717632" cy="1713309"/>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19383A"/>
              </a:buClr>
              <a:buSzPts val="4000"/>
              <a:buFont typeface="Arial"/>
              <a:buNone/>
            </a:pPr>
            <a:r>
              <a:rPr lang="de-DE"/>
              <a:t>Тестирование ПО. Урок 4</a:t>
            </a:r>
            <a:endParaRPr/>
          </a:p>
        </p:txBody>
      </p:sp>
      <p:sp>
        <p:nvSpPr>
          <p:cNvPr id="85" name="Google Shape;85;p1"/>
          <p:cNvSpPr txBox="1"/>
          <p:nvPr>
            <p:ph idx="1" type="body"/>
          </p:nvPr>
        </p:nvSpPr>
        <p:spPr>
          <a:xfrm>
            <a:off x="713185" y="2361051"/>
            <a:ext cx="7791450" cy="639323"/>
          </a:xfrm>
          <a:prstGeom prst="rect">
            <a:avLst/>
          </a:prstGeom>
          <a:noFill/>
          <a:ln>
            <a:noFill/>
          </a:ln>
        </p:spPr>
        <p:txBody>
          <a:bodyPr anchorCtr="0" anchor="t" bIns="0" lIns="0" spcFirstLastPara="1" rIns="0" wrap="square" tIns="0">
            <a:normAutofit/>
          </a:bodyPr>
          <a:lstStyle/>
          <a:p>
            <a:pPr indent="0" lvl="0" marL="0" rtl="0" algn="l">
              <a:lnSpc>
                <a:spcPct val="123000"/>
              </a:lnSpc>
              <a:spcBef>
                <a:spcPts val="0"/>
              </a:spcBef>
              <a:spcAft>
                <a:spcPts val="1200"/>
              </a:spcAft>
              <a:buSzPts val="1600"/>
              <a:buNone/>
            </a:pPr>
            <a:r>
              <a:rPr lang="de-DE"/>
              <a:t>Требования, а</a:t>
            </a:r>
            <a:r>
              <a:rPr lang="de-DE"/>
              <a:t>ртефакты тестирования</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type="title"/>
          </p:nvPr>
        </p:nvSpPr>
        <p:spPr>
          <a:xfrm>
            <a:off x="311700" y="2150850"/>
            <a:ext cx="8520600" cy="8418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dk1"/>
              </a:buClr>
              <a:buSzPts val="4000"/>
              <a:buFont typeface="Arial"/>
              <a:buNone/>
            </a:pPr>
            <a:r>
              <a:rPr b="0" lang="de-DE">
                <a:solidFill>
                  <a:schemeClr val="dk1"/>
                </a:solidFill>
              </a:rPr>
              <a:t>Требования</a:t>
            </a:r>
            <a:endParaRPr/>
          </a:p>
        </p:txBody>
      </p:sp>
      <p:sp>
        <p:nvSpPr>
          <p:cNvPr id="92" name="Google Shape;92;p3"/>
          <p:cNvSpPr txBox="1"/>
          <p:nvPr>
            <p:ph idx="4294967295" type="body"/>
          </p:nvPr>
        </p:nvSpPr>
        <p:spPr>
          <a:xfrm>
            <a:off x="5599809" y="933281"/>
            <a:ext cx="3103500" cy="277200"/>
          </a:xfrm>
          <a:prstGeom prst="rect">
            <a:avLst/>
          </a:prstGeom>
          <a:noFill/>
          <a:ln>
            <a:noFill/>
          </a:ln>
        </p:spPr>
        <p:txBody>
          <a:bodyPr anchorCtr="0" anchor="t" bIns="0" lIns="0" spcFirstLastPara="1" rIns="0" wrap="square" tIns="0">
            <a:spAutoFit/>
          </a:bodyPr>
          <a:lstStyle/>
          <a:p>
            <a:pPr indent="0" lvl="0" marL="0" rtl="0" algn="ctr">
              <a:lnSpc>
                <a:spcPct val="123000"/>
              </a:lnSpc>
              <a:spcBef>
                <a:spcPts val="0"/>
              </a:spcBef>
              <a:spcAft>
                <a:spcPts val="1200"/>
              </a:spcAft>
              <a:buSzPts val="21000"/>
              <a:buNone/>
            </a:pPr>
            <a:r>
              <a:rPr lang="de-DE"/>
              <a:t>1</a:t>
            </a:r>
            <a:endParaRPr/>
          </a:p>
        </p:txBody>
      </p:sp>
      <p:sp>
        <p:nvSpPr>
          <p:cNvPr id="93" name="Google Shape;9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DE"/>
              <a:t>‹#›</a:t>
            </a:fld>
            <a:endParaRPr/>
          </a:p>
        </p:txBody>
      </p:sp>
      <p:sp>
        <p:nvSpPr>
          <p:cNvPr id="94" name="Google Shape;94;p3"/>
          <p:cNvSpPr txBox="1"/>
          <p:nvPr/>
        </p:nvSpPr>
        <p:spPr>
          <a:xfrm>
            <a:off x="6398133" y="1206169"/>
            <a:ext cx="1508700" cy="32460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de-DE" sz="21000">
                <a:solidFill>
                  <a:srgbClr val="00AC20"/>
                </a:solidFill>
              </a:rPr>
              <a:t>1</a:t>
            </a:r>
            <a:endParaRPr sz="210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Требования</a:t>
            </a:r>
            <a:endParaRPr/>
          </a:p>
        </p:txBody>
      </p:sp>
      <p:sp>
        <p:nvSpPr>
          <p:cNvPr id="101" name="Google Shape;101;p4"/>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102" name="Google Shape;102;p4"/>
          <p:cNvSpPr/>
          <p:nvPr/>
        </p:nvSpPr>
        <p:spPr>
          <a:xfrm>
            <a:off x="493308" y="864135"/>
            <a:ext cx="8017845"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de-DE" sz="1800" u="none" cap="none" strike="noStrike">
                <a:solidFill>
                  <a:schemeClr val="dk1"/>
                </a:solidFill>
                <a:latin typeface="Arial"/>
                <a:ea typeface="Arial"/>
                <a:cs typeface="Arial"/>
                <a:sym typeface="Arial"/>
              </a:rPr>
              <a:t>Требование (requirement) </a:t>
            </a:r>
            <a:r>
              <a:rPr b="0" i="0" lang="de-DE" sz="1800" u="none" cap="none" strike="noStrike">
                <a:solidFill>
                  <a:schemeClr val="dk1"/>
                </a:solidFill>
                <a:latin typeface="Arial"/>
                <a:ea typeface="Arial"/>
                <a:cs typeface="Arial"/>
                <a:sym typeface="Arial"/>
              </a:rPr>
              <a:t>— описание того, какие функции и с соблюдением каких условий должно выполнять приложение в процессе решения полезной для пользователя задачи.</a:t>
            </a:r>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r>
              <a:rPr lang="de-DE" sz="1800" u="sng">
                <a:solidFill>
                  <a:schemeClr val="dk1"/>
                </a:solidFill>
                <a:latin typeface="Arial"/>
                <a:ea typeface="Arial"/>
                <a:cs typeface="Arial"/>
                <a:sym typeface="Arial"/>
              </a:rPr>
              <a:t>Бывают</a:t>
            </a:r>
            <a:r>
              <a:rPr lang="de-DE" sz="1800">
                <a:solidFill>
                  <a:schemeClr val="dk1"/>
                </a:solidFill>
                <a:latin typeface="Arial"/>
                <a:ea typeface="Arial"/>
                <a:cs typeface="Arial"/>
                <a:sym typeface="Arial"/>
              </a:rPr>
              <a:t> </a:t>
            </a:r>
            <a:endParaRPr/>
          </a:p>
          <a:p>
            <a:pPr indent="-285750" lvl="1" marL="742853" marR="0" rtl="0" algn="l">
              <a:spcBef>
                <a:spcPts val="0"/>
              </a:spcBef>
              <a:spcAft>
                <a:spcPts val="0"/>
              </a:spcAft>
              <a:buClr>
                <a:schemeClr val="dk1"/>
              </a:buClr>
              <a:buSzPts val="1800"/>
              <a:buFont typeface="Arial"/>
              <a:buChar char="•"/>
            </a:pPr>
            <a:r>
              <a:rPr b="0" i="0" lang="de-DE" sz="1800" u="none" cap="none" strike="noStrike">
                <a:solidFill>
                  <a:schemeClr val="dk1"/>
                </a:solidFill>
                <a:latin typeface="Arial"/>
                <a:ea typeface="Arial"/>
                <a:cs typeface="Arial"/>
                <a:sym typeface="Arial"/>
              </a:rPr>
              <a:t>Продуктовые требования (PRD - Product Requirement Document)</a:t>
            </a:r>
            <a:endParaRPr/>
          </a:p>
          <a:p>
            <a:pPr indent="-285750" lvl="1" marL="742853" marR="0" rtl="0" algn="l">
              <a:spcBef>
                <a:spcPts val="0"/>
              </a:spcBef>
              <a:spcAft>
                <a:spcPts val="0"/>
              </a:spcAft>
              <a:buClr>
                <a:schemeClr val="dk1"/>
              </a:buClr>
              <a:buSzPts val="1800"/>
              <a:buFont typeface="Arial"/>
              <a:buChar char="•"/>
            </a:pPr>
            <a:r>
              <a:rPr b="0" i="0" lang="de-DE" sz="1800" u="none" cap="none" strike="noStrike">
                <a:solidFill>
                  <a:schemeClr val="dk1"/>
                </a:solidFill>
                <a:latin typeface="Arial"/>
                <a:ea typeface="Arial"/>
                <a:cs typeface="Arial"/>
                <a:sym typeface="Arial"/>
              </a:rPr>
              <a:t>Системные требования (SRS - System Requirement Specification)</a:t>
            </a:r>
            <a:endParaRPr/>
          </a:p>
          <a:p>
            <a:pPr indent="-285750" lvl="1" marL="742853" marR="0" rtl="0" algn="l">
              <a:spcBef>
                <a:spcPts val="0"/>
              </a:spcBef>
              <a:spcAft>
                <a:spcPts val="0"/>
              </a:spcAft>
              <a:buClr>
                <a:schemeClr val="dk1"/>
              </a:buClr>
              <a:buSzPts val="1800"/>
              <a:buFont typeface="Arial"/>
              <a:buChar char="•"/>
            </a:pPr>
            <a:r>
              <a:rPr b="0" i="0" lang="de-DE" sz="1800" u="none" cap="none" strike="noStrike">
                <a:solidFill>
                  <a:schemeClr val="dk1"/>
                </a:solidFill>
                <a:latin typeface="Arial"/>
                <a:ea typeface="Arial"/>
                <a:cs typeface="Arial"/>
                <a:sym typeface="Arial"/>
              </a:rPr>
              <a:t>Функциональные требования (FRS - Functional Requirement Specification)</a:t>
            </a:r>
            <a:endParaRPr/>
          </a:p>
          <a:p>
            <a:pPr indent="-285750" lvl="1" marL="742853" marR="0" rtl="0" algn="l">
              <a:spcBef>
                <a:spcPts val="0"/>
              </a:spcBef>
              <a:spcAft>
                <a:spcPts val="0"/>
              </a:spcAft>
              <a:buClr>
                <a:schemeClr val="dk1"/>
              </a:buClr>
              <a:buSzPts val="1800"/>
              <a:buFont typeface="Arial"/>
              <a:buChar char="•"/>
            </a:pPr>
            <a:r>
              <a:rPr b="0" i="0" lang="de-DE" sz="1800" u="none" cap="none" strike="noStrike">
                <a:solidFill>
                  <a:schemeClr val="dk1"/>
                </a:solidFill>
                <a:latin typeface="Arial"/>
                <a:ea typeface="Arial"/>
                <a:cs typeface="Arial"/>
                <a:sym typeface="Arial"/>
              </a:rPr>
              <a:t>Технические требования (TR/TS - Technical Requirements/ Technical Specification)</a:t>
            </a:r>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r>
              <a:rPr lang="de-DE" sz="1800">
                <a:solidFill>
                  <a:schemeClr val="dk1"/>
                </a:solidFill>
                <a:latin typeface="Arial"/>
                <a:ea typeface="Arial"/>
                <a:cs typeface="Arial"/>
                <a:sym typeface="Arial"/>
              </a:rPr>
              <a:t>Все они отличаются степенью детализации, то есть каждый следующий документ содержит всё больше деталей реализации. </a:t>
            </a:r>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Требования.Ожидание/Реальность</a:t>
            </a:r>
            <a:endParaRPr/>
          </a:p>
        </p:txBody>
      </p:sp>
      <p:sp>
        <p:nvSpPr>
          <p:cNvPr id="109" name="Google Shape;109;p5"/>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pic>
        <p:nvPicPr>
          <p:cNvPr descr="https://lh4.googleusercontent.com/zTzV7TGwKc6qJKpVw1ltuil3KE7d_anrN47o_6Zy_ROaWeUijOVxdSiBp9LruIxDDfWsYIpkD12lpwmAb1yXfMPJdypwbj770Oj_4sDfXYCbdlP1gDf_2onguQXeTs52p6_vhQrEtZ0" id="110" name="Google Shape;110;p5"/>
          <p:cNvPicPr preferRelativeResize="0"/>
          <p:nvPr/>
        </p:nvPicPr>
        <p:blipFill rotWithShape="1">
          <a:blip r:embed="rId3">
            <a:alphaModFix/>
          </a:blip>
          <a:srcRect b="0" l="0" r="0" t="0"/>
          <a:stretch/>
        </p:blipFill>
        <p:spPr>
          <a:xfrm>
            <a:off x="1541282" y="821311"/>
            <a:ext cx="5457858" cy="41957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Требования. Уровни</a:t>
            </a:r>
            <a:endParaRPr/>
          </a:p>
        </p:txBody>
      </p:sp>
      <p:sp>
        <p:nvSpPr>
          <p:cNvPr id="117" name="Google Shape;117;p6"/>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pic>
        <p:nvPicPr>
          <p:cNvPr descr="https://lh3.googleusercontent.com/-r5aafGw2dPP2DOL-9N-uertr8Arn4D-B2T5wuBIppt2kebFGYEF2xI0BKyNZU8z43p8ULk6JZyvzg_WmClTWKdosTlAUJw-ousd_Dpc-EYrYtWL3Pc0bi_oN6evI7P9cipVU_ril2E" id="118" name="Google Shape;118;p6"/>
          <p:cNvPicPr preferRelativeResize="0"/>
          <p:nvPr/>
        </p:nvPicPr>
        <p:blipFill rotWithShape="1">
          <a:blip r:embed="rId3">
            <a:alphaModFix/>
          </a:blip>
          <a:srcRect b="0" l="0" r="0" t="0"/>
          <a:stretch/>
        </p:blipFill>
        <p:spPr>
          <a:xfrm>
            <a:off x="1275048" y="916285"/>
            <a:ext cx="6331385" cy="39013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Требования. Свойства и качества</a:t>
            </a:r>
            <a:endParaRPr/>
          </a:p>
        </p:txBody>
      </p:sp>
      <p:sp>
        <p:nvSpPr>
          <p:cNvPr id="125" name="Google Shape;125;p7"/>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pic>
        <p:nvPicPr>
          <p:cNvPr descr="https://lh5.googleusercontent.com/85J6gEybYBs72Q1C7U0PjFzsrAHNjSSSdrNUE1dn7WsZZOB4pURao6Kp8onu6V2gvWZH7UdFsU_z-IHjw2H1vkdaU-jYER6nQarwbYsAjWD-Q5WLLmax7tx2Da8_KvSg7gQCLNyJBIc" id="126" name="Google Shape;126;p7"/>
          <p:cNvPicPr preferRelativeResize="0"/>
          <p:nvPr/>
        </p:nvPicPr>
        <p:blipFill rotWithShape="1">
          <a:blip r:embed="rId3">
            <a:alphaModFix/>
          </a:blip>
          <a:srcRect b="0" l="0" r="0" t="0"/>
          <a:stretch/>
        </p:blipFill>
        <p:spPr>
          <a:xfrm>
            <a:off x="1371600" y="1257041"/>
            <a:ext cx="6295174" cy="33862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311700" y="2150850"/>
            <a:ext cx="8520600" cy="8418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dk1"/>
              </a:buClr>
              <a:buSzPts val="4000"/>
              <a:buFont typeface="Arial"/>
              <a:buNone/>
            </a:pPr>
            <a:r>
              <a:rPr b="0" lang="de-DE">
                <a:solidFill>
                  <a:schemeClr val="dk1"/>
                </a:solidFill>
              </a:rPr>
              <a:t>Артефакты тестирования</a:t>
            </a:r>
            <a:endParaRPr/>
          </a:p>
        </p:txBody>
      </p:sp>
      <p:sp>
        <p:nvSpPr>
          <p:cNvPr id="133" name="Google Shape;1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DE"/>
              <a:t>‹#›</a:t>
            </a:fld>
            <a:endParaRPr/>
          </a:p>
        </p:txBody>
      </p:sp>
      <p:sp>
        <p:nvSpPr>
          <p:cNvPr id="134" name="Google Shape;134;p8"/>
          <p:cNvSpPr txBox="1"/>
          <p:nvPr/>
        </p:nvSpPr>
        <p:spPr>
          <a:xfrm>
            <a:off x="6398133" y="1206169"/>
            <a:ext cx="1508700" cy="32460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de-DE" sz="21000">
                <a:solidFill>
                  <a:srgbClr val="00AC20"/>
                </a:solidFill>
                <a:latin typeface="Arial"/>
                <a:ea typeface="Arial"/>
                <a:cs typeface="Arial"/>
                <a:sym typeface="Arial"/>
              </a:rPr>
              <a:t>2</a:t>
            </a:r>
            <a:endParaRPr sz="210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Артефакты тестирования</a:t>
            </a:r>
            <a:endParaRPr/>
          </a:p>
        </p:txBody>
      </p:sp>
      <p:sp>
        <p:nvSpPr>
          <p:cNvPr id="141" name="Google Shape;141;p9"/>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142" name="Google Shape;142;p9"/>
          <p:cNvSpPr/>
          <p:nvPr/>
        </p:nvSpPr>
        <p:spPr>
          <a:xfrm>
            <a:off x="834053" y="1547528"/>
            <a:ext cx="8017845"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Тестовая стратегия, тест план </a:t>
            </a:r>
            <a:r>
              <a:rPr lang="de-DE" sz="1800">
                <a:solidFill>
                  <a:schemeClr val="dk1"/>
                </a:solidFill>
                <a:latin typeface="Arial"/>
                <a:ea typeface="Arial"/>
                <a:cs typeface="Arial"/>
                <a:sym typeface="Arial"/>
              </a:rPr>
              <a:t>(Test Strategy, Test plan)</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Тест кейсы </a:t>
            </a:r>
            <a:r>
              <a:rPr lang="de-DE" sz="1800">
                <a:solidFill>
                  <a:schemeClr val="dk1"/>
                </a:solidFill>
                <a:latin typeface="Arial"/>
                <a:ea typeface="Arial"/>
                <a:cs typeface="Arial"/>
                <a:sym typeface="Arial"/>
              </a:rPr>
              <a:t>(Test Case)</a:t>
            </a:r>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Баг репорты </a:t>
            </a:r>
            <a:r>
              <a:rPr lang="de-DE" sz="1800">
                <a:solidFill>
                  <a:schemeClr val="dk1"/>
                </a:solidFill>
                <a:latin typeface="Arial"/>
                <a:ea typeface="Arial"/>
                <a:cs typeface="Arial"/>
                <a:sym typeface="Arial"/>
              </a:rPr>
              <a:t>(Bug reports, defects, issues, etc.)</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Тест репорт</a:t>
            </a:r>
            <a:r>
              <a:rPr lang="de-DE" sz="1800">
                <a:solidFill>
                  <a:schemeClr val="dk1"/>
                </a:solidFill>
                <a:latin typeface="Arial"/>
                <a:ea typeface="Arial"/>
                <a:cs typeface="Arial"/>
                <a:sym typeface="Arial"/>
              </a:rPr>
              <a:t> (Test report)</a:t>
            </a:r>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Матрица соответствия требованиям </a:t>
            </a:r>
            <a:r>
              <a:rPr lang="de-DE" sz="1800">
                <a:solidFill>
                  <a:schemeClr val="dk1"/>
                </a:solidFill>
                <a:latin typeface="Arial"/>
                <a:ea typeface="Arial"/>
                <a:cs typeface="Arial"/>
                <a:sym typeface="Arial"/>
              </a:rPr>
              <a:t>(Traceability matrix)</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Чек-листы</a:t>
            </a:r>
            <a:r>
              <a:rPr lang="de-DE" sz="1800">
                <a:solidFill>
                  <a:schemeClr val="dk1"/>
                </a:solidFill>
                <a:latin typeface="Arial"/>
                <a:ea typeface="Arial"/>
                <a:cs typeface="Arial"/>
                <a:sym typeface="Arial"/>
              </a:rPr>
              <a:t> (Checklist)</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Автоматические тесты </a:t>
            </a:r>
            <a:r>
              <a:rPr lang="de-DE" sz="1800">
                <a:solidFill>
                  <a:schemeClr val="dk1"/>
                </a:solidFill>
                <a:latin typeface="Arial"/>
                <a:ea typeface="Arial"/>
                <a:cs typeface="Arial"/>
                <a:sym typeface="Arial"/>
              </a:rPr>
              <a:t>(Automation test scenarios)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5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Effect filter="fade" transition="in">
                                      <p:cBhvr>
                                        <p:cTn dur="500"/>
                                        <p:tgtEl>
                                          <p:spTgt spid="1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Effect filter="fade" transition="in">
                                      <p:cBhvr>
                                        <p:cTn dur="500"/>
                                        <p:tgtEl>
                                          <p:spTgt spid="1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Effect filter="fade" transition="in">
                                      <p:cBhvr>
                                        <p:cTn dur="500"/>
                                        <p:tgtEl>
                                          <p:spTgt spid="1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Effect filter="fade" transition="in">
                                      <p:cBhvr>
                                        <p:cTn dur="500"/>
                                        <p:tgtEl>
                                          <p:spTgt spid="1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Effect filter="fade" transition="in">
                                      <p:cBhvr>
                                        <p:cTn dur="500"/>
                                        <p:tgtEl>
                                          <p:spTgt spid="1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animEffect filter="fade" transition="in">
                                      <p:cBhvr>
                                        <p:cTn dur="500"/>
                                        <p:tgtEl>
                                          <p:spTgt spid="14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animEffect filter="fade" transition="in">
                                      <p:cBhvr>
                                        <p:cTn dur="500"/>
                                        <p:tgtEl>
                                          <p:spTgt spid="14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311700" y="2150850"/>
            <a:ext cx="8520600" cy="841800"/>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dk1"/>
              </a:buClr>
              <a:buSzPct val="111111"/>
              <a:buFont typeface="Arial"/>
              <a:buNone/>
            </a:pPr>
            <a:r>
              <a:rPr b="0" lang="de-DE">
                <a:solidFill>
                  <a:schemeClr val="dk1"/>
                </a:solidFill>
              </a:rPr>
              <a:t>Тест план и </a:t>
            </a:r>
            <a:br>
              <a:rPr b="0" lang="de-DE">
                <a:solidFill>
                  <a:schemeClr val="dk1"/>
                </a:solidFill>
              </a:rPr>
            </a:br>
            <a:r>
              <a:rPr b="0" lang="de-DE">
                <a:solidFill>
                  <a:schemeClr val="dk1"/>
                </a:solidFill>
              </a:rPr>
              <a:t>тестовая стратегия</a:t>
            </a:r>
            <a:endParaRPr/>
          </a:p>
        </p:txBody>
      </p:sp>
      <p:sp>
        <p:nvSpPr>
          <p:cNvPr id="149" name="Google Shape;14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 план. Вопросы, на которые должен отвечать</a:t>
            </a:r>
            <a:br>
              <a:rPr b="0" lang="de-DE"/>
            </a:br>
            <a:br>
              <a:rPr lang="de-DE"/>
            </a:br>
            <a:r>
              <a:rPr lang="de-DE"/>
              <a:t>Кто?</a:t>
            </a:r>
            <a:endParaRPr/>
          </a:p>
          <a:p>
            <a:pPr indent="0" lvl="0" marL="0" rtl="0" algn="l">
              <a:lnSpc>
                <a:spcPct val="100000"/>
              </a:lnSpc>
              <a:spcBef>
                <a:spcPts val="0"/>
              </a:spcBef>
              <a:spcAft>
                <a:spcPts val="0"/>
              </a:spcAft>
              <a:buClr>
                <a:srgbClr val="19383A"/>
              </a:buClr>
              <a:buSzPts val="2400"/>
              <a:buFont typeface="Arial"/>
              <a:buNone/>
            </a:pPr>
            <a:r>
              <a:rPr lang="de-DE"/>
              <a:t>Что?</a:t>
            </a:r>
            <a:endParaRPr/>
          </a:p>
          <a:p>
            <a:pPr indent="0" lvl="0" marL="0" rtl="0" algn="l">
              <a:lnSpc>
                <a:spcPct val="100000"/>
              </a:lnSpc>
              <a:spcBef>
                <a:spcPts val="0"/>
              </a:spcBef>
              <a:spcAft>
                <a:spcPts val="0"/>
              </a:spcAft>
              <a:buClr>
                <a:srgbClr val="19383A"/>
              </a:buClr>
              <a:buSzPts val="2400"/>
              <a:buFont typeface="Arial"/>
              <a:buNone/>
            </a:pPr>
            <a:r>
              <a:rPr lang="de-DE"/>
              <a:t>Когда?</a:t>
            </a:r>
            <a:endParaRPr/>
          </a:p>
          <a:p>
            <a:pPr indent="0" lvl="0" marL="0" rtl="0" algn="l">
              <a:lnSpc>
                <a:spcPct val="100000"/>
              </a:lnSpc>
              <a:spcBef>
                <a:spcPts val="0"/>
              </a:spcBef>
              <a:spcAft>
                <a:spcPts val="0"/>
              </a:spcAft>
              <a:buClr>
                <a:srgbClr val="19383A"/>
              </a:buClr>
              <a:buSzPts val="2400"/>
              <a:buFont typeface="Arial"/>
              <a:buNone/>
            </a:pPr>
            <a:r>
              <a:rPr lang="de-DE"/>
              <a:t>Где?</a:t>
            </a:r>
            <a:endParaRPr/>
          </a:p>
          <a:p>
            <a:pPr indent="0" lvl="0" marL="0" rtl="0" algn="l">
              <a:lnSpc>
                <a:spcPct val="100000"/>
              </a:lnSpc>
              <a:spcBef>
                <a:spcPts val="0"/>
              </a:spcBef>
              <a:spcAft>
                <a:spcPts val="0"/>
              </a:spcAft>
              <a:buClr>
                <a:srgbClr val="19383A"/>
              </a:buClr>
              <a:buSzPts val="2400"/>
              <a:buFont typeface="Arial"/>
              <a:buNone/>
            </a:pPr>
            <a:r>
              <a:rPr lang="de-DE"/>
              <a:t>Кем / Чем?</a:t>
            </a:r>
            <a:endParaRPr/>
          </a:p>
          <a:p>
            <a:pPr indent="0" lvl="0" marL="0" rtl="0" algn="l">
              <a:lnSpc>
                <a:spcPct val="100000"/>
              </a:lnSpc>
              <a:spcBef>
                <a:spcPts val="0"/>
              </a:spcBef>
              <a:spcAft>
                <a:spcPts val="0"/>
              </a:spcAft>
              <a:buClr>
                <a:srgbClr val="19383A"/>
              </a:buClr>
              <a:buSzPts val="2400"/>
              <a:buFont typeface="Arial"/>
              <a:buNone/>
            </a:pPr>
            <a:r>
              <a:rPr lang="de-DE"/>
              <a:t>Как?</a:t>
            </a:r>
            <a:endParaRPr/>
          </a:p>
        </p:txBody>
      </p:sp>
      <p:sp>
        <p:nvSpPr>
          <p:cNvPr id="156" name="Google Shape;156;p11"/>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 план. Шаблон</a:t>
            </a:r>
            <a:br>
              <a:rPr b="0" lang="de-DE"/>
            </a:br>
            <a:br>
              <a:rPr lang="de-DE"/>
            </a:br>
            <a:endParaRPr/>
          </a:p>
        </p:txBody>
      </p:sp>
      <p:sp>
        <p:nvSpPr>
          <p:cNvPr id="163" name="Google Shape;163;p12"/>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164" name="Google Shape;164;p12"/>
          <p:cNvSpPr/>
          <p:nvPr/>
        </p:nvSpPr>
        <p:spPr>
          <a:xfrm>
            <a:off x="463649" y="951636"/>
            <a:ext cx="3731279" cy="36009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200">
                <a:solidFill>
                  <a:schemeClr val="dk1"/>
                </a:solidFill>
                <a:latin typeface="Arial"/>
                <a:ea typeface="Arial"/>
                <a:cs typeface="Arial"/>
                <a:sym typeface="Arial"/>
              </a:rPr>
              <a:t>1. Test subject</a:t>
            </a:r>
            <a:br>
              <a:rPr b="1"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&lt;should be information about what we are going to test in next format&gt;</a:t>
            </a:r>
            <a:br>
              <a:rPr lang="de-DE" sz="1200">
                <a:solidFill>
                  <a:schemeClr val="dk1"/>
                </a:solidFill>
                <a:latin typeface="Arial"/>
                <a:ea typeface="Arial"/>
                <a:cs typeface="Arial"/>
                <a:sym typeface="Arial"/>
              </a:rPr>
            </a:br>
            <a:br>
              <a:rPr lang="de-DE" sz="1200">
                <a:solidFill>
                  <a:schemeClr val="dk1"/>
                </a:solidFill>
                <a:latin typeface="Arial"/>
                <a:ea typeface="Arial"/>
                <a:cs typeface="Arial"/>
                <a:sym typeface="Arial"/>
              </a:rPr>
            </a:br>
            <a:r>
              <a:rPr b="1" lang="de-DE" sz="1200">
                <a:solidFill>
                  <a:schemeClr val="dk1"/>
                </a:solidFill>
                <a:latin typeface="Arial"/>
                <a:ea typeface="Arial"/>
                <a:cs typeface="Arial"/>
                <a:sym typeface="Arial"/>
              </a:rPr>
              <a:t>2.</a:t>
            </a:r>
            <a:r>
              <a:rPr lang="de-DE" sz="1200">
                <a:solidFill>
                  <a:schemeClr val="dk1"/>
                </a:solidFill>
                <a:latin typeface="Arial"/>
                <a:ea typeface="Arial"/>
                <a:cs typeface="Arial"/>
                <a:sym typeface="Arial"/>
              </a:rPr>
              <a:t> </a:t>
            </a:r>
            <a:r>
              <a:rPr b="1" lang="de-DE" sz="1200">
                <a:solidFill>
                  <a:schemeClr val="dk1"/>
                </a:solidFill>
                <a:latin typeface="Arial"/>
                <a:ea typeface="Arial"/>
                <a:cs typeface="Arial"/>
                <a:sym typeface="Arial"/>
              </a:rPr>
              <a:t>Feature to be tested: &lt;feature name&gt;</a:t>
            </a:r>
            <a:br>
              <a:rPr b="1"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Requirements: &lt;links to the requirements&gt;</a:t>
            </a:r>
            <a:br>
              <a:rPr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Jira tasks: &lt;link to Jira epic&gt;</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b="1" lang="de-DE" sz="1200">
                <a:solidFill>
                  <a:schemeClr val="dk1"/>
                </a:solidFill>
                <a:latin typeface="Arial"/>
                <a:ea typeface="Arial"/>
                <a:cs typeface="Arial"/>
                <a:sym typeface="Arial"/>
              </a:rPr>
              <a:t>3. Features Not to Be Tested:</a:t>
            </a:r>
            <a:endParaRPr/>
          </a:p>
          <a:p>
            <a:pPr indent="0" lvl="0" marL="0" marR="0" rtl="0" algn="l">
              <a:spcBef>
                <a:spcPts val="0"/>
              </a:spcBef>
              <a:spcAft>
                <a:spcPts val="0"/>
              </a:spcAft>
              <a:buNone/>
            </a:pPr>
            <a:r>
              <a:rPr lang="de-DE" sz="1200">
                <a:solidFill>
                  <a:schemeClr val="dk1"/>
                </a:solidFill>
                <a:latin typeface="Arial"/>
                <a:ea typeface="Arial"/>
                <a:cs typeface="Arial"/>
                <a:sym typeface="Arial"/>
              </a:rPr>
              <a:t>&lt;what and why we are not going to test&gt;</a:t>
            </a:r>
            <a:br>
              <a:rPr lang="de-DE" sz="1200">
                <a:solidFill>
                  <a:schemeClr val="dk1"/>
                </a:solidFill>
                <a:latin typeface="Arial"/>
                <a:ea typeface="Arial"/>
                <a:cs typeface="Arial"/>
                <a:sym typeface="Arial"/>
              </a:rPr>
            </a:br>
            <a:br>
              <a:rPr lang="de-DE" sz="1200">
                <a:solidFill>
                  <a:schemeClr val="dk1"/>
                </a:solidFill>
                <a:latin typeface="Arial"/>
                <a:ea typeface="Arial"/>
                <a:cs typeface="Arial"/>
                <a:sym typeface="Arial"/>
              </a:rPr>
            </a:br>
            <a:r>
              <a:rPr b="1" lang="de-DE" sz="1200">
                <a:solidFill>
                  <a:schemeClr val="dk1"/>
                </a:solidFill>
                <a:latin typeface="Arial"/>
                <a:ea typeface="Arial"/>
                <a:cs typeface="Arial"/>
                <a:sym typeface="Arial"/>
              </a:rPr>
              <a:t>4. Target release</a:t>
            </a:r>
            <a:br>
              <a:rPr b="1"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&lt;release when feature should be ready&gt;</a:t>
            </a:r>
            <a:br>
              <a:rPr lang="de-DE" sz="1200">
                <a:solidFill>
                  <a:schemeClr val="dk1"/>
                </a:solidFill>
                <a:latin typeface="Arial"/>
                <a:ea typeface="Arial"/>
                <a:cs typeface="Arial"/>
                <a:sym typeface="Arial"/>
              </a:rPr>
            </a:br>
            <a:br>
              <a:rPr lang="de-DE" sz="1200">
                <a:solidFill>
                  <a:schemeClr val="dk1"/>
                </a:solidFill>
                <a:latin typeface="Arial"/>
                <a:ea typeface="Arial"/>
                <a:cs typeface="Arial"/>
                <a:sym typeface="Arial"/>
              </a:rPr>
            </a:br>
            <a:r>
              <a:rPr b="1" lang="de-DE" sz="1200">
                <a:solidFill>
                  <a:schemeClr val="dk1"/>
                </a:solidFill>
                <a:latin typeface="Arial"/>
                <a:ea typeface="Arial"/>
                <a:cs typeface="Arial"/>
                <a:sym typeface="Arial"/>
              </a:rPr>
              <a:t>5. Resources</a:t>
            </a:r>
            <a:br>
              <a:rPr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&lt;list of QA team that is going to take part in testing&gt;</a:t>
            </a:r>
            <a:endParaRPr/>
          </a:p>
          <a:p>
            <a:pPr indent="0" lvl="0" marL="0" marR="0" rtl="0" algn="l">
              <a:spcBef>
                <a:spcPts val="0"/>
              </a:spcBef>
              <a:spcAft>
                <a:spcPts val="0"/>
              </a:spcAft>
              <a:buNone/>
            </a:pPr>
            <a:br>
              <a:rPr lang="de-DE" sz="1200">
                <a:solidFill>
                  <a:schemeClr val="dk1"/>
                </a:solidFill>
                <a:latin typeface="Arial"/>
                <a:ea typeface="Arial"/>
                <a:cs typeface="Arial"/>
                <a:sym typeface="Arial"/>
              </a:rPr>
            </a:br>
            <a:r>
              <a:rPr b="1" lang="de-DE" sz="1200">
                <a:solidFill>
                  <a:schemeClr val="dk1"/>
                </a:solidFill>
                <a:latin typeface="Arial"/>
                <a:ea typeface="Arial"/>
                <a:cs typeface="Arial"/>
                <a:sym typeface="Arial"/>
              </a:rPr>
              <a:t>6. Environments</a:t>
            </a:r>
            <a:br>
              <a:rPr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&lt;where we're going to test&gt;</a:t>
            </a:r>
            <a:endParaRPr sz="1200">
              <a:solidFill>
                <a:schemeClr val="dk1"/>
              </a:solidFill>
              <a:latin typeface="Arial"/>
              <a:ea typeface="Arial"/>
              <a:cs typeface="Arial"/>
              <a:sym typeface="Arial"/>
            </a:endParaRPr>
          </a:p>
        </p:txBody>
      </p:sp>
      <p:sp>
        <p:nvSpPr>
          <p:cNvPr id="165" name="Google Shape;165;p12"/>
          <p:cNvSpPr/>
          <p:nvPr/>
        </p:nvSpPr>
        <p:spPr>
          <a:xfrm>
            <a:off x="4831237" y="951636"/>
            <a:ext cx="3626421"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200">
                <a:solidFill>
                  <a:schemeClr val="dk1"/>
                </a:solidFill>
                <a:latin typeface="Arial"/>
                <a:ea typeface="Arial"/>
                <a:cs typeface="Arial"/>
                <a:sym typeface="Arial"/>
              </a:rPr>
              <a:t>7. Test Approach</a:t>
            </a:r>
            <a:br>
              <a:rPr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&lt;how we are going to test feature. Which types/levels of testing. Are we going to automate, cover on unit test level, etc.&gt;</a:t>
            </a:r>
            <a:br>
              <a:rPr lang="de-DE" sz="1200">
                <a:solidFill>
                  <a:schemeClr val="dk1"/>
                </a:solidFill>
                <a:latin typeface="Arial"/>
                <a:ea typeface="Arial"/>
                <a:cs typeface="Arial"/>
                <a:sym typeface="Arial"/>
              </a:rPr>
            </a:br>
            <a:br>
              <a:rPr lang="de-DE" sz="1200">
                <a:solidFill>
                  <a:schemeClr val="dk1"/>
                </a:solidFill>
                <a:latin typeface="Arial"/>
                <a:ea typeface="Arial"/>
                <a:cs typeface="Arial"/>
                <a:sym typeface="Arial"/>
              </a:rPr>
            </a:br>
            <a:r>
              <a:rPr b="1" lang="de-DE" sz="1200">
                <a:solidFill>
                  <a:schemeClr val="dk1"/>
                </a:solidFill>
                <a:latin typeface="Arial"/>
                <a:ea typeface="Arial"/>
                <a:cs typeface="Arial"/>
                <a:sym typeface="Arial"/>
              </a:rPr>
              <a:t>8. Testing Tools</a:t>
            </a:r>
            <a:br>
              <a:rPr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&lt;which instruments will be used&gt;</a:t>
            </a:r>
            <a:br>
              <a:rPr lang="de-DE" sz="1200">
                <a:solidFill>
                  <a:schemeClr val="dk1"/>
                </a:solidFill>
                <a:latin typeface="Arial"/>
                <a:ea typeface="Arial"/>
                <a:cs typeface="Arial"/>
                <a:sym typeface="Arial"/>
              </a:rPr>
            </a:br>
            <a:br>
              <a:rPr lang="de-DE" sz="1200">
                <a:solidFill>
                  <a:schemeClr val="dk1"/>
                </a:solidFill>
                <a:latin typeface="Arial"/>
                <a:ea typeface="Arial"/>
                <a:cs typeface="Arial"/>
                <a:sym typeface="Arial"/>
              </a:rPr>
            </a:br>
            <a:r>
              <a:rPr b="1" lang="de-DE" sz="1200">
                <a:solidFill>
                  <a:schemeClr val="dk1"/>
                </a:solidFill>
                <a:latin typeface="Arial"/>
                <a:ea typeface="Arial"/>
                <a:cs typeface="Arial"/>
                <a:sym typeface="Arial"/>
              </a:rPr>
              <a:t>9. Risk Analysis &amp; Dependency</a:t>
            </a:r>
            <a:br>
              <a:rPr b="1"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&lt;any risks, people, resource dependency that can hold on the project&gt;</a:t>
            </a:r>
            <a:br>
              <a:rPr lang="de-DE" sz="1200">
                <a:solidFill>
                  <a:schemeClr val="dk1"/>
                </a:solidFill>
                <a:latin typeface="Arial"/>
                <a:ea typeface="Arial"/>
                <a:cs typeface="Arial"/>
                <a:sym typeface="Arial"/>
              </a:rPr>
            </a:br>
            <a:br>
              <a:rPr lang="de-DE" sz="1200">
                <a:solidFill>
                  <a:schemeClr val="dk1"/>
                </a:solidFill>
                <a:latin typeface="Arial"/>
                <a:ea typeface="Arial"/>
                <a:cs typeface="Arial"/>
                <a:sym typeface="Arial"/>
              </a:rPr>
            </a:br>
            <a:r>
              <a:rPr b="1" lang="de-DE" sz="1200">
                <a:solidFill>
                  <a:schemeClr val="dk1"/>
                </a:solidFill>
                <a:latin typeface="Arial"/>
                <a:ea typeface="Arial"/>
                <a:cs typeface="Arial"/>
                <a:sym typeface="Arial"/>
              </a:rPr>
              <a:t>10. Exit criteria</a:t>
            </a:r>
            <a:br>
              <a:rPr lang="de-DE" sz="1200">
                <a:solidFill>
                  <a:schemeClr val="dk1"/>
                </a:solidFill>
                <a:latin typeface="Arial"/>
                <a:ea typeface="Arial"/>
                <a:cs typeface="Arial"/>
                <a:sym typeface="Arial"/>
              </a:rPr>
            </a:br>
            <a:r>
              <a:rPr lang="de-DE" sz="1200">
                <a:solidFill>
                  <a:schemeClr val="dk1"/>
                </a:solidFill>
                <a:latin typeface="Arial"/>
                <a:ea typeface="Arial"/>
                <a:cs typeface="Arial"/>
                <a:sym typeface="Arial"/>
              </a:rPr>
              <a:t>&lt;criteria of finishing testing &gt;</a:t>
            </a:r>
            <a:endParaRPr sz="12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3"/>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 план и Тестовая стратегия</a:t>
            </a:r>
            <a:br>
              <a:rPr lang="de-DE"/>
            </a:br>
            <a:endParaRPr/>
          </a:p>
        </p:txBody>
      </p:sp>
      <p:sp>
        <p:nvSpPr>
          <p:cNvPr id="172" name="Google Shape;172;p13"/>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173" name="Google Shape;173;p13"/>
          <p:cNvSpPr/>
          <p:nvPr/>
        </p:nvSpPr>
        <p:spPr>
          <a:xfrm>
            <a:off x="610062" y="1105525"/>
            <a:ext cx="7572404" cy="32932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600">
                <a:solidFill>
                  <a:schemeClr val="dk1"/>
                </a:solidFill>
                <a:latin typeface="Arial"/>
                <a:ea typeface="Arial"/>
                <a:cs typeface="Arial"/>
                <a:sym typeface="Arial"/>
              </a:rPr>
              <a:t>Тестовая стратегия (Test Strategy) </a:t>
            </a:r>
            <a:r>
              <a:rPr lang="de-DE" sz="1600">
                <a:solidFill>
                  <a:schemeClr val="dk1"/>
                </a:solidFill>
                <a:latin typeface="Arial"/>
                <a:ea typeface="Arial"/>
                <a:cs typeface="Arial"/>
                <a:sym typeface="Arial"/>
              </a:rPr>
              <a:t>– описывает общие для организации, независимые от проекта методы тестирования, объемы тестирования, подходы и тд.</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de-DE" sz="1600">
                <a:solidFill>
                  <a:schemeClr val="dk1"/>
                </a:solidFill>
                <a:latin typeface="Arial"/>
                <a:ea typeface="Arial"/>
                <a:cs typeface="Arial"/>
                <a:sym typeface="Arial"/>
              </a:rPr>
              <a:t>Тест план (Test plan) </a:t>
            </a:r>
            <a:r>
              <a:rPr lang="de-DE" sz="1600">
                <a:solidFill>
                  <a:schemeClr val="dk1"/>
                </a:solidFill>
                <a:latin typeface="Arial"/>
                <a:ea typeface="Arial"/>
                <a:cs typeface="Arial"/>
                <a:sym typeface="Arial"/>
              </a:rPr>
              <a:t>– документ, описывающий объем (scope) тестирования и тестовых активностей (техники, правила, методы, уровни и тд.):</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Arial"/>
              <a:buChar char="•"/>
            </a:pPr>
            <a:r>
              <a:rPr b="0" i="0" lang="de-DE" sz="1600" u="sng" cap="none" strike="noStrike">
                <a:solidFill>
                  <a:schemeClr val="dk1"/>
                </a:solidFill>
                <a:latin typeface="Arial"/>
                <a:ea typeface="Arial"/>
                <a:cs typeface="Arial"/>
                <a:sym typeface="Arial"/>
              </a:rPr>
              <a:t>Мастер тест план </a:t>
            </a:r>
            <a:r>
              <a:rPr b="0" i="0" lang="de-DE" sz="1600" u="none" cap="none" strike="noStrike">
                <a:solidFill>
                  <a:schemeClr val="dk1"/>
                </a:solidFill>
                <a:latin typeface="Arial"/>
                <a:ea typeface="Arial"/>
                <a:cs typeface="Arial"/>
                <a:sym typeface="Arial"/>
              </a:rPr>
              <a:t>(master test plan) – описывает применение тестовой стратегии организации на конкретном проекте </a:t>
            </a:r>
            <a:endParaRPr/>
          </a:p>
          <a:p>
            <a:pPr indent="-184150" lvl="1" marL="742853" marR="0" rtl="0" algn="l">
              <a:spcBef>
                <a:spcPts val="0"/>
              </a:spcBef>
              <a:spcAft>
                <a:spcPts val="0"/>
              </a:spcAft>
              <a:buClr>
                <a:schemeClr val="dk1"/>
              </a:buClr>
              <a:buSzPts val="1600"/>
              <a:buFont typeface="Arial"/>
              <a:buNone/>
            </a:pPr>
            <a:r>
              <a:t/>
            </a:r>
            <a:endParaRPr b="1" i="0" sz="1600" u="none" cap="none" strike="noStrike">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Arial"/>
              <a:buChar char="•"/>
            </a:pPr>
            <a:r>
              <a:rPr b="0" i="0" lang="de-DE" sz="1600" u="sng" cap="none" strike="noStrike">
                <a:solidFill>
                  <a:schemeClr val="dk1"/>
                </a:solidFill>
                <a:latin typeface="Arial"/>
                <a:ea typeface="Arial"/>
                <a:cs typeface="Arial"/>
                <a:sym typeface="Arial"/>
              </a:rPr>
              <a:t>План тестирования уровня(или фазы)</a:t>
            </a:r>
            <a:r>
              <a:rPr b="0" i="0" lang="de-DE" sz="1600" u="none" cap="none" strike="noStrike">
                <a:solidFill>
                  <a:schemeClr val="dk1"/>
                </a:solidFill>
                <a:latin typeface="Arial"/>
                <a:ea typeface="Arial"/>
                <a:cs typeface="Arial"/>
                <a:sym typeface="Arial"/>
              </a:rPr>
              <a:t> – описывает активности по тестированию определенного уровня или отдельной части программы</a:t>
            </a:r>
            <a:endParaRPr b="0"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311700" y="2150850"/>
            <a:ext cx="8520600" cy="841800"/>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dk1"/>
              </a:buClr>
              <a:buSzPct val="111111"/>
              <a:buFont typeface="Arial"/>
              <a:buNone/>
            </a:pPr>
            <a:r>
              <a:rPr b="0" lang="de-DE">
                <a:solidFill>
                  <a:schemeClr val="dk1"/>
                </a:solidFill>
              </a:rPr>
              <a:t>Тест кейс и </a:t>
            </a:r>
            <a:br>
              <a:rPr b="0" lang="de-DE">
                <a:solidFill>
                  <a:schemeClr val="dk1"/>
                </a:solidFill>
              </a:rPr>
            </a:br>
            <a:r>
              <a:rPr b="0" lang="de-DE">
                <a:solidFill>
                  <a:schemeClr val="dk1"/>
                </a:solidFill>
              </a:rPr>
              <a:t>тестовые системы</a:t>
            </a:r>
            <a:endParaRPr/>
          </a:p>
        </p:txBody>
      </p:sp>
      <p:sp>
        <p:nvSpPr>
          <p:cNvPr id="180" name="Google Shape;18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 кейс</a:t>
            </a:r>
            <a:endParaRPr/>
          </a:p>
        </p:txBody>
      </p:sp>
      <p:sp>
        <p:nvSpPr>
          <p:cNvPr id="187" name="Google Shape;187;p15"/>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188" name="Google Shape;188;p15"/>
          <p:cNvSpPr/>
          <p:nvPr/>
        </p:nvSpPr>
        <p:spPr>
          <a:xfrm>
            <a:off x="570310" y="1114953"/>
            <a:ext cx="7572404" cy="26161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latin typeface="Arial"/>
                <a:ea typeface="Arial"/>
                <a:cs typeface="Arial"/>
                <a:sym typeface="Arial"/>
              </a:rPr>
              <a:t>Тестовый случай (Test Case)</a:t>
            </a:r>
            <a:r>
              <a:rPr lang="de-DE" sz="1800">
                <a:solidFill>
                  <a:schemeClr val="dk1"/>
                </a:solidFill>
                <a:latin typeface="Arial"/>
                <a:ea typeface="Arial"/>
                <a:cs typeface="Arial"/>
                <a:sym typeface="Arial"/>
              </a:rPr>
              <a:t> - это пошаговое описание необходимых действий для получения определенного результата</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de-DE" sz="1600">
                <a:solidFill>
                  <a:schemeClr val="dk1"/>
                </a:solidFill>
                <a:latin typeface="Arial"/>
                <a:ea typeface="Arial"/>
                <a:cs typeface="Arial"/>
                <a:sym typeface="Arial"/>
              </a:rPr>
              <a:t>Характеристики хорошего теста </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de-DE" sz="1600">
                <a:solidFill>
                  <a:schemeClr val="dk1"/>
                </a:solidFill>
                <a:latin typeface="Arial"/>
                <a:ea typeface="Arial"/>
                <a:cs typeface="Arial"/>
                <a:sym typeface="Arial"/>
              </a:rPr>
              <a:t>Хороший тест должен удовлетворять следующим критериям:</a:t>
            </a:r>
            <a:endParaRPr/>
          </a:p>
          <a:p>
            <a:pPr indent="-285750" lvl="1" marL="742853" marR="0" rtl="0" algn="l">
              <a:spcBef>
                <a:spcPts val="0"/>
              </a:spcBef>
              <a:spcAft>
                <a:spcPts val="0"/>
              </a:spcAft>
              <a:buClr>
                <a:schemeClr val="dk1"/>
              </a:buClr>
              <a:buSzPts val="1600"/>
              <a:buFont typeface="Arial"/>
              <a:buChar char="•"/>
            </a:pPr>
            <a:r>
              <a:rPr b="0" i="0" lang="de-DE" sz="1600" u="none" cap="none" strike="noStrike">
                <a:solidFill>
                  <a:schemeClr val="dk1"/>
                </a:solidFill>
                <a:latin typeface="Arial"/>
                <a:ea typeface="Arial"/>
                <a:cs typeface="Arial"/>
                <a:sym typeface="Arial"/>
              </a:rPr>
              <a:t>Существует обоснованная вероятность выявления тестом ошибки</a:t>
            </a:r>
            <a:endParaRPr/>
          </a:p>
          <a:p>
            <a:pPr indent="-285750" lvl="1" marL="742853" marR="0" rtl="0" algn="l">
              <a:spcBef>
                <a:spcPts val="0"/>
              </a:spcBef>
              <a:spcAft>
                <a:spcPts val="0"/>
              </a:spcAft>
              <a:buClr>
                <a:schemeClr val="dk1"/>
              </a:buClr>
              <a:buSzPts val="1600"/>
              <a:buFont typeface="Arial"/>
              <a:buChar char="•"/>
            </a:pPr>
            <a:r>
              <a:rPr b="0" i="0" lang="de-DE" sz="1600" u="none" cap="none" strike="noStrike">
                <a:solidFill>
                  <a:schemeClr val="dk1"/>
                </a:solidFill>
                <a:latin typeface="Arial"/>
                <a:ea typeface="Arial"/>
                <a:cs typeface="Arial"/>
                <a:sym typeface="Arial"/>
              </a:rPr>
              <a:t>Набор тестов не должен быть избыточным</a:t>
            </a:r>
            <a:endParaRPr/>
          </a:p>
          <a:p>
            <a:pPr indent="-285750" lvl="1" marL="742853" marR="0" rtl="0" algn="l">
              <a:spcBef>
                <a:spcPts val="0"/>
              </a:spcBef>
              <a:spcAft>
                <a:spcPts val="0"/>
              </a:spcAft>
              <a:buClr>
                <a:schemeClr val="dk1"/>
              </a:buClr>
              <a:buSzPts val="1600"/>
              <a:buFont typeface="Arial"/>
              <a:buChar char="•"/>
            </a:pPr>
            <a:r>
              <a:rPr b="0" i="0" lang="de-DE" sz="1600" u="none" cap="none" strike="noStrike">
                <a:solidFill>
                  <a:schemeClr val="dk1"/>
                </a:solidFill>
                <a:latin typeface="Arial"/>
                <a:ea typeface="Arial"/>
                <a:cs typeface="Arial"/>
                <a:sym typeface="Arial"/>
              </a:rPr>
              <a:t>Тест должен быть наилучшим в своей категории</a:t>
            </a:r>
            <a:endParaRPr/>
          </a:p>
          <a:p>
            <a:pPr indent="-285750" lvl="1" marL="742853" marR="0" rtl="0" algn="l">
              <a:spcBef>
                <a:spcPts val="0"/>
              </a:spcBef>
              <a:spcAft>
                <a:spcPts val="0"/>
              </a:spcAft>
              <a:buClr>
                <a:schemeClr val="dk1"/>
              </a:buClr>
              <a:buSzPts val="1600"/>
              <a:buFont typeface="Arial"/>
              <a:buChar char="•"/>
            </a:pPr>
            <a:r>
              <a:rPr b="0" i="0" lang="de-DE" sz="1600" u="none" cap="none" strike="noStrike">
                <a:solidFill>
                  <a:schemeClr val="dk1"/>
                </a:solidFill>
                <a:latin typeface="Arial"/>
                <a:ea typeface="Arial"/>
                <a:cs typeface="Arial"/>
                <a:sym typeface="Arial"/>
              </a:rPr>
              <a:t>Он не должен быть слишком простым или слишком сложным</a:t>
            </a:r>
            <a:endParaRPr b="0" i="0" sz="16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 кейс. Test Rail</a:t>
            </a:r>
            <a:endParaRPr/>
          </a:p>
        </p:txBody>
      </p:sp>
      <p:sp>
        <p:nvSpPr>
          <p:cNvPr id="195" name="Google Shape;195;p16"/>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pic>
        <p:nvPicPr>
          <p:cNvPr descr="https://lh4.googleusercontent.com/Ga4Ub2HNWKw3YtfRUVf6XhUhtx2RWYniBrxS1rQ26cSgZJI6VIbpF03PG5HUuRcK9lJMArayUurQTLzauf5RQCnsJ3Su5pLGCZAiwVumY--EMir5DvjPJAlt2rPF1al87nrbmlUzP80" id="196" name="Google Shape;196;p16"/>
          <p:cNvPicPr preferRelativeResize="0"/>
          <p:nvPr/>
        </p:nvPicPr>
        <p:blipFill rotWithShape="1">
          <a:blip r:embed="rId3">
            <a:alphaModFix/>
          </a:blip>
          <a:srcRect b="0" l="0" r="0" t="0"/>
          <a:stretch/>
        </p:blipFill>
        <p:spPr>
          <a:xfrm>
            <a:off x="570310" y="1052546"/>
            <a:ext cx="7713184" cy="33214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9"/>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Тестовая система (Test management tool)</a:t>
            </a:r>
            <a:endParaRPr/>
          </a:p>
        </p:txBody>
      </p:sp>
      <p:sp>
        <p:nvSpPr>
          <p:cNvPr id="203" name="Google Shape;203;p19"/>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04" name="Google Shape;204;p19"/>
          <p:cNvSpPr/>
          <p:nvPr/>
        </p:nvSpPr>
        <p:spPr>
          <a:xfrm>
            <a:off x="730349" y="1206632"/>
            <a:ext cx="7414409"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600">
                <a:solidFill>
                  <a:srgbClr val="000000"/>
                </a:solidFill>
                <a:latin typeface="Roboto"/>
                <a:ea typeface="Roboto"/>
                <a:cs typeface="Roboto"/>
                <a:sym typeface="Roboto"/>
              </a:rPr>
              <a:t>Система управления тестами (test management system) </a:t>
            </a:r>
            <a:r>
              <a:rPr lang="de-DE" sz="1600">
                <a:solidFill>
                  <a:srgbClr val="000000"/>
                </a:solidFill>
                <a:latin typeface="Roboto"/>
                <a:ea typeface="Roboto"/>
                <a:cs typeface="Roboto"/>
                <a:sym typeface="Roboto"/>
              </a:rPr>
              <a:t>- это система, которая позволяет создавать, хранить, структурировать тест кейсы. В ней есть возможность управлять прогонами - выполнением тест кейсов, строить отчеты по результатам прогонов.</a:t>
            </a:r>
            <a:endParaRPr sz="1600">
              <a:solidFill>
                <a:schemeClr val="dk1"/>
              </a:solidFill>
              <a:latin typeface="Arial"/>
              <a:ea typeface="Arial"/>
              <a:cs typeface="Arial"/>
              <a:sym typeface="Arial"/>
            </a:endParaRPr>
          </a:p>
          <a:p>
            <a:pPr indent="0" lvl="0" marL="0" marR="0" rtl="0" algn="l">
              <a:spcBef>
                <a:spcPts val="0"/>
              </a:spcBef>
              <a:spcAft>
                <a:spcPts val="0"/>
              </a:spcAft>
              <a:buNone/>
            </a:pPr>
            <a:br>
              <a:rPr lang="de-DE" sz="1600">
                <a:solidFill>
                  <a:schemeClr val="dk1"/>
                </a:solidFill>
                <a:latin typeface="Arial"/>
                <a:ea typeface="Arial"/>
                <a:cs typeface="Arial"/>
                <a:sym typeface="Arial"/>
              </a:rPr>
            </a:br>
            <a:r>
              <a:rPr lang="de-DE" sz="1600">
                <a:solidFill>
                  <a:srgbClr val="000000"/>
                </a:solidFill>
                <a:latin typeface="Roboto"/>
                <a:ea typeface="Roboto"/>
                <a:cs typeface="Roboto"/>
                <a:sym typeface="Roboto"/>
              </a:rPr>
              <a:t>Основные функции: </a:t>
            </a:r>
            <a:endParaRPr sz="1600">
              <a:solidFill>
                <a:schemeClr val="dk1"/>
              </a:solidFill>
              <a:latin typeface="Arial"/>
              <a:ea typeface="Arial"/>
              <a:cs typeface="Arial"/>
              <a:sym typeface="Arial"/>
            </a:endParaRPr>
          </a:p>
          <a:p>
            <a:pPr indent="-285750" lvl="1" marL="742853" marR="0" rtl="0" algn="l">
              <a:spcBef>
                <a:spcPts val="0"/>
              </a:spcBef>
              <a:spcAft>
                <a:spcPts val="0"/>
              </a:spcAft>
              <a:buClr>
                <a:srgbClr val="000000"/>
              </a:buClr>
              <a:buSzPts val="1600"/>
              <a:buFont typeface="Arial"/>
              <a:buChar char="•"/>
            </a:pPr>
            <a:r>
              <a:rPr b="0" i="0" lang="de-DE" sz="1600" u="none" cap="none" strike="noStrike">
                <a:solidFill>
                  <a:srgbClr val="000000"/>
                </a:solidFill>
                <a:latin typeface="Roboto"/>
                <a:ea typeface="Roboto"/>
                <a:cs typeface="Roboto"/>
                <a:sym typeface="Roboto"/>
              </a:rPr>
              <a:t>Тестовый редактор и просмотрщик (создание, удаление, перемещение, редактирование тест кейсов)</a:t>
            </a:r>
            <a:endParaRPr/>
          </a:p>
          <a:p>
            <a:pPr indent="-285750" lvl="1" marL="742853" marR="0" rtl="0" algn="l">
              <a:spcBef>
                <a:spcPts val="0"/>
              </a:spcBef>
              <a:spcAft>
                <a:spcPts val="0"/>
              </a:spcAft>
              <a:buClr>
                <a:srgbClr val="000000"/>
              </a:buClr>
              <a:buSzPts val="1600"/>
              <a:buFont typeface="Arial"/>
              <a:buChar char="•"/>
            </a:pPr>
            <a:r>
              <a:rPr b="0" i="0" lang="de-DE" sz="1600" u="none" cap="none" strike="noStrike">
                <a:solidFill>
                  <a:srgbClr val="000000"/>
                </a:solidFill>
                <a:latin typeface="Roboto"/>
                <a:ea typeface="Roboto"/>
                <a:cs typeface="Roboto"/>
                <a:sym typeface="Roboto"/>
              </a:rPr>
              <a:t>Тестовые запуски (создание запуска, редактирование, удаление)</a:t>
            </a:r>
            <a:endParaRPr/>
          </a:p>
          <a:p>
            <a:pPr indent="-285750" lvl="1" marL="742853" marR="0" rtl="0" algn="l">
              <a:spcBef>
                <a:spcPts val="0"/>
              </a:spcBef>
              <a:spcAft>
                <a:spcPts val="0"/>
              </a:spcAft>
              <a:buClr>
                <a:srgbClr val="000000"/>
              </a:buClr>
              <a:buSzPts val="1600"/>
              <a:buFont typeface="Arial"/>
              <a:buChar char="•"/>
            </a:pPr>
            <a:r>
              <a:rPr b="0" i="0" lang="de-DE" sz="1600" u="none" cap="none" strike="noStrike">
                <a:solidFill>
                  <a:srgbClr val="000000"/>
                </a:solidFill>
                <a:latin typeface="Roboto"/>
                <a:ea typeface="Roboto"/>
                <a:cs typeface="Roboto"/>
                <a:sym typeface="Roboto"/>
              </a:rPr>
              <a:t>Управление отчетами (создание отчетов, возможность обмена)</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Тестовая система (Test management tool)</a:t>
            </a:r>
            <a:endParaRPr/>
          </a:p>
        </p:txBody>
      </p:sp>
      <p:sp>
        <p:nvSpPr>
          <p:cNvPr id="211" name="Google Shape;211;p20"/>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12" name="Google Shape;212;p20"/>
          <p:cNvSpPr/>
          <p:nvPr/>
        </p:nvSpPr>
        <p:spPr>
          <a:xfrm>
            <a:off x="730349" y="1206632"/>
            <a:ext cx="7414409"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Test Link</a:t>
            </a:r>
            <a:br>
              <a:rPr lang="de-DE" sz="1800">
                <a:solidFill>
                  <a:schemeClr val="dk1"/>
                </a:solidFill>
                <a:latin typeface="Arial"/>
                <a:ea typeface="Arial"/>
                <a:cs typeface="Arial"/>
                <a:sym typeface="Arial"/>
              </a:rPr>
            </a:br>
            <a:r>
              <a:rPr lang="de-DE" sz="1800">
                <a:solidFill>
                  <a:schemeClr val="dk1"/>
                </a:solidFill>
                <a:latin typeface="Arial"/>
                <a:ea typeface="Arial"/>
                <a:cs typeface="Arial"/>
                <a:sym typeface="Arial"/>
              </a:rPr>
              <a:t>(</a:t>
            </a:r>
            <a:r>
              <a:rPr lang="de-DE" sz="1800" u="sng">
                <a:solidFill>
                  <a:schemeClr val="hlink"/>
                </a:solidFill>
                <a:hlinkClick r:id="rId3"/>
              </a:rPr>
              <a:t>http://testlink.org</a:t>
            </a:r>
            <a:r>
              <a:rPr lang="de-DE"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Test Rail </a:t>
            </a:r>
            <a:br>
              <a:rPr lang="de-DE" sz="1800">
                <a:solidFill>
                  <a:schemeClr val="dk1"/>
                </a:solidFill>
                <a:latin typeface="Arial"/>
                <a:ea typeface="Arial"/>
                <a:cs typeface="Arial"/>
                <a:sym typeface="Arial"/>
              </a:rPr>
            </a:br>
            <a:r>
              <a:rPr lang="de-DE" sz="1800">
                <a:solidFill>
                  <a:schemeClr val="dk1"/>
                </a:solidFill>
                <a:latin typeface="Arial"/>
                <a:ea typeface="Arial"/>
                <a:cs typeface="Arial"/>
                <a:sym typeface="Arial"/>
              </a:rPr>
              <a:t>(</a:t>
            </a:r>
            <a:r>
              <a:rPr lang="de-DE" sz="1800" u="sng">
                <a:solidFill>
                  <a:schemeClr val="hlink"/>
                </a:solidFill>
                <a:hlinkClick r:id="rId4"/>
              </a:rPr>
              <a:t>https://brunoyamlearn.testrail.io/index.php?/cases/view/</a:t>
            </a:r>
            <a:r>
              <a:rPr lang="de-DE" sz="1800" u="sng">
                <a:solidFill>
                  <a:schemeClr val="hlink"/>
                </a:solidFill>
              </a:rPr>
              <a:t>1</a:t>
            </a:r>
            <a:r>
              <a:rPr lang="de-DE" sz="1800">
                <a:solidFill>
                  <a:schemeClr val="dk1"/>
                </a:solidFill>
                <a:latin typeface="Arial"/>
                <a:ea typeface="Arial"/>
                <a:cs typeface="Arial"/>
                <a:sym typeface="Arial"/>
              </a:rPr>
              <a:t>)</a:t>
            </a:r>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latin typeface="Arial"/>
                <a:ea typeface="Arial"/>
                <a:cs typeface="Arial"/>
                <a:sym typeface="Arial"/>
              </a:rPr>
              <a:t>Hiptest</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de-DE" sz="1800">
                <a:solidFill>
                  <a:schemeClr val="dk1"/>
                </a:solidFill>
              </a:rPr>
              <a:t>Allure TestOps</a:t>
            </a:r>
            <a:br>
              <a:rPr b="1" lang="de-DE" sz="1800">
                <a:solidFill>
                  <a:schemeClr val="dk1"/>
                </a:solidFill>
              </a:rPr>
            </a:br>
            <a:r>
              <a:rPr lang="de-DE" sz="1800">
                <a:solidFill>
                  <a:schemeClr val="dk1"/>
                </a:solidFill>
              </a:rPr>
              <a:t>(</a:t>
            </a:r>
            <a:r>
              <a:rPr lang="de-DE" sz="1800" u="sng">
                <a:solidFill>
                  <a:schemeClr val="hlink"/>
                </a:solidFill>
                <a:hlinkClick r:id="rId5"/>
              </a:rPr>
              <a:t>https://qameta.io/</a:t>
            </a:r>
            <a:r>
              <a:rPr lang="de-DE" sz="1800">
                <a:solidFill>
                  <a:schemeClr val="dk1"/>
                </a:solidFill>
              </a:rPr>
              <a:t>)</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311700" y="2150850"/>
            <a:ext cx="8520600" cy="841800"/>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dk1"/>
              </a:buClr>
              <a:buSzPct val="111111"/>
              <a:buFont typeface="Arial"/>
              <a:buNone/>
            </a:pPr>
            <a:r>
              <a:rPr b="0" lang="de-DE">
                <a:solidFill>
                  <a:schemeClr val="dk1"/>
                </a:solidFill>
              </a:rPr>
              <a:t>Баг репорт и </a:t>
            </a:r>
            <a:br>
              <a:rPr b="0" lang="de-DE">
                <a:solidFill>
                  <a:schemeClr val="dk1"/>
                </a:solidFill>
              </a:rPr>
            </a:br>
            <a:r>
              <a:rPr b="0" lang="de-DE">
                <a:solidFill>
                  <a:schemeClr val="dk1"/>
                </a:solidFill>
              </a:rPr>
              <a:t>баг трекинг системы</a:t>
            </a:r>
            <a:endParaRPr/>
          </a:p>
        </p:txBody>
      </p:sp>
      <p:sp>
        <p:nvSpPr>
          <p:cNvPr id="219" name="Google Shape;21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DE"/>
              <a:t>‹#›</a:t>
            </a:fld>
            <a:endParaRPr/>
          </a:p>
        </p:txBody>
      </p:sp>
      <p:sp>
        <p:nvSpPr>
          <p:cNvPr id="220" name="Google Shape;220;p21"/>
          <p:cNvSpPr txBox="1"/>
          <p:nvPr/>
        </p:nvSpPr>
        <p:spPr>
          <a:xfrm>
            <a:off x="6398133" y="1206169"/>
            <a:ext cx="1508700" cy="32460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de-DE" sz="21000">
                <a:solidFill>
                  <a:srgbClr val="00AC20"/>
                </a:solidFill>
              </a:rPr>
              <a:t>3</a:t>
            </a:r>
            <a:endParaRPr sz="210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2"/>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Что такое bug?</a:t>
            </a:r>
            <a:endParaRPr/>
          </a:p>
        </p:txBody>
      </p:sp>
      <p:sp>
        <p:nvSpPr>
          <p:cNvPr id="227" name="Google Shape;227;p22"/>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28" name="Google Shape;228;p22"/>
          <p:cNvSpPr/>
          <p:nvPr/>
        </p:nvSpPr>
        <p:spPr>
          <a:xfrm>
            <a:off x="311698" y="1336475"/>
            <a:ext cx="4379700" cy="175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rPr>
              <a:t>Баг (bug, defect)</a:t>
            </a:r>
            <a:r>
              <a:rPr lang="de-DE" sz="1800">
                <a:solidFill>
                  <a:schemeClr val="dk1"/>
                </a:solidFill>
              </a:rPr>
              <a:t> – это ошибка в коде или в работе программы.</a:t>
            </a:r>
            <a:endParaRPr b="1" sz="1800">
              <a:solidFill>
                <a:schemeClr val="dk1"/>
              </a:solidFill>
            </a:endParaRPr>
          </a:p>
          <a:p>
            <a:pPr indent="0" lvl="0" marL="0" marR="0" rtl="0" algn="l">
              <a:spcBef>
                <a:spcPts val="0"/>
              </a:spcBef>
              <a:spcAft>
                <a:spcPts val="0"/>
              </a:spcAft>
              <a:buNone/>
            </a:pPr>
            <a:r>
              <a:rPr b="1" lang="de-DE" sz="1800">
                <a:solidFill>
                  <a:schemeClr val="dk1"/>
                </a:solidFill>
                <a:latin typeface="Arial"/>
                <a:ea typeface="Arial"/>
                <a:cs typeface="Arial"/>
                <a:sym typeface="Arial"/>
              </a:rPr>
              <a:t>Bug</a:t>
            </a:r>
            <a:r>
              <a:rPr b="1" lang="de-DE" sz="1800">
                <a:solidFill>
                  <a:schemeClr val="dk1"/>
                </a:solidFill>
              </a:rPr>
              <a:t> report</a:t>
            </a:r>
            <a:r>
              <a:rPr b="1" lang="de-DE" sz="1800">
                <a:solidFill>
                  <a:schemeClr val="dk1"/>
                </a:solidFill>
                <a:latin typeface="Arial"/>
                <a:ea typeface="Arial"/>
                <a:cs typeface="Arial"/>
                <a:sym typeface="Arial"/>
              </a:rPr>
              <a:t> </a:t>
            </a:r>
            <a:r>
              <a:rPr lang="de-DE" sz="1800">
                <a:solidFill>
                  <a:schemeClr val="dk1"/>
                </a:solidFill>
                <a:latin typeface="Arial"/>
                <a:ea typeface="Arial"/>
                <a:cs typeface="Arial"/>
                <a:sym typeface="Arial"/>
              </a:rPr>
              <a:t>– это отчёт об ошибке, в котором описано некорректное, несоответствующее требованиям поведение программного обеспечения </a:t>
            </a:r>
            <a:endParaRPr sz="1600">
              <a:solidFill>
                <a:schemeClr val="dk1"/>
              </a:solidFill>
              <a:latin typeface="Arial"/>
              <a:ea typeface="Arial"/>
              <a:cs typeface="Arial"/>
              <a:sym typeface="Arial"/>
            </a:endParaRPr>
          </a:p>
        </p:txBody>
      </p:sp>
      <p:pic>
        <p:nvPicPr>
          <p:cNvPr id="229" name="Google Shape;229;p22"/>
          <p:cNvPicPr preferRelativeResize="0"/>
          <p:nvPr/>
        </p:nvPicPr>
        <p:blipFill>
          <a:blip r:embed="rId3">
            <a:alphaModFix/>
          </a:blip>
          <a:stretch>
            <a:fillRect/>
          </a:stretch>
        </p:blipFill>
        <p:spPr>
          <a:xfrm>
            <a:off x="4843798" y="1170125"/>
            <a:ext cx="4147802" cy="229425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Первый баг репорт (1947)</a:t>
            </a:r>
            <a:endParaRPr/>
          </a:p>
        </p:txBody>
      </p:sp>
      <p:sp>
        <p:nvSpPr>
          <p:cNvPr id="236" name="Google Shape;236;p23"/>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pic>
        <p:nvPicPr>
          <p:cNvPr descr="ÐÐ°ÑÑÐ¸Ð½ÐºÐ¸ Ð¿Ð¾ Ð·Ð°Ð¿ÑÐ¾ÑÑ first bug" id="237" name="Google Shape;237;p23"/>
          <p:cNvPicPr preferRelativeResize="0"/>
          <p:nvPr/>
        </p:nvPicPr>
        <p:blipFill rotWithShape="1">
          <a:blip r:embed="rId3">
            <a:alphaModFix/>
          </a:blip>
          <a:srcRect b="0" l="0" r="0" t="0"/>
          <a:stretch/>
        </p:blipFill>
        <p:spPr>
          <a:xfrm>
            <a:off x="1508289" y="1004992"/>
            <a:ext cx="5676920" cy="3743929"/>
          </a:xfrm>
          <a:prstGeom prst="rect">
            <a:avLst/>
          </a:prstGeom>
          <a:noFill/>
          <a:ln>
            <a:noFill/>
          </a:ln>
        </p:spPr>
      </p:pic>
      <p:pic>
        <p:nvPicPr>
          <p:cNvPr descr="ÐÐ°ÑÑÐ¸Ð½ÐºÐ¸ Ð¿Ð¾ Ð·Ð°Ð¿ÑÐ¾ÑÑ first bug" id="238" name="Google Shape;238;p23"/>
          <p:cNvPicPr preferRelativeResize="0"/>
          <p:nvPr/>
        </p:nvPicPr>
        <p:blipFill rotWithShape="1">
          <a:blip r:embed="rId4">
            <a:alphaModFix/>
          </a:blip>
          <a:srcRect b="0" l="0" r="0" t="0"/>
          <a:stretch/>
        </p:blipFill>
        <p:spPr>
          <a:xfrm>
            <a:off x="1971296" y="1517861"/>
            <a:ext cx="4803366" cy="27182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2000"/>
                                        <p:tgtEl>
                                          <p:spTgt spid="2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Структура баг репорт</a:t>
            </a:r>
            <a:endParaRPr/>
          </a:p>
        </p:txBody>
      </p:sp>
      <p:sp>
        <p:nvSpPr>
          <p:cNvPr id="245" name="Google Shape;245;p25"/>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46" name="Google Shape;246;p25"/>
          <p:cNvSpPr/>
          <p:nvPr/>
        </p:nvSpPr>
        <p:spPr>
          <a:xfrm>
            <a:off x="429023" y="1001106"/>
            <a:ext cx="7101212"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latin typeface="Arial"/>
                <a:ea typeface="Arial"/>
                <a:cs typeface="Arial"/>
                <a:sym typeface="Arial"/>
              </a:rPr>
              <a:t>Баг репорт должен содержать: </a:t>
            </a:r>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Заголовок (title) </a:t>
            </a:r>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Версию</a:t>
            </a:r>
            <a:endParaRPr b="0" i="0" sz="1600" u="none" cap="none" strike="noStrike">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Приоритет/Важность (Priority/Severity)</a:t>
            </a:r>
            <a:endParaRPr b="0" i="0" sz="1600" u="none" cap="none" strike="noStrike">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Короткое описание проблемы (Problem)</a:t>
            </a:r>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Предусловия (Preconditions)</a:t>
            </a:r>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Шаги воспроизведения (Steps to reproduce)</a:t>
            </a:r>
            <a:endParaRPr b="0" i="0" sz="1600" u="none" cap="none" strike="noStrike">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Ожидаемый результат (Expected results)</a:t>
            </a:r>
            <a:endParaRPr b="0" i="0" sz="1600" u="none" cap="none" strike="noStrike">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Фактический результат (Actual results)</a:t>
            </a:r>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Техническую информацию (Technical info)</a:t>
            </a:r>
            <a:endParaRPr b="0" i="0" sz="1600" u="none" cap="none" strike="noStrike">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Логи (Technical logs)</a:t>
            </a:r>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Ссылка на тест кейс (Test case link)</a:t>
            </a:r>
            <a:endParaRPr b="0" i="0" sz="1600" u="none" cap="none" strike="noStrike">
              <a:solidFill>
                <a:schemeClr val="dk1"/>
              </a:solidFill>
              <a:latin typeface="Arial"/>
              <a:ea typeface="Arial"/>
              <a:cs typeface="Arial"/>
              <a:sym typeface="Arial"/>
            </a:endParaRPr>
          </a:p>
          <a:p>
            <a:pPr indent="-285750" lvl="1" marL="742853" marR="0" rtl="0" algn="l">
              <a:spcBef>
                <a:spcPts val="0"/>
              </a:spcBef>
              <a:spcAft>
                <a:spcPts val="0"/>
              </a:spcAft>
              <a:buClr>
                <a:schemeClr val="dk1"/>
              </a:buClr>
              <a:buSzPts val="1600"/>
              <a:buFont typeface="Noto Sans Symbols"/>
              <a:buChar char="⮚"/>
            </a:pPr>
            <a:r>
              <a:rPr b="0" i="0" lang="de-DE" sz="1600" u="none" cap="none" strike="noStrike">
                <a:solidFill>
                  <a:schemeClr val="dk1"/>
                </a:solidFill>
                <a:latin typeface="Arial"/>
                <a:ea typeface="Arial"/>
                <a:cs typeface="Arial"/>
                <a:sym typeface="Arial"/>
              </a:rPr>
              <a:t>И любую другую информацию, которая поможет баг починить, воспроизвести и в будущем проверить</a:t>
            </a:r>
            <a:endParaRPr/>
          </a:p>
          <a:p>
            <a:pPr indent="0" lvl="0" marL="0" marR="0" rtl="0" algn="l">
              <a:spcBef>
                <a:spcPts val="0"/>
              </a:spcBef>
              <a:spcAft>
                <a:spcPts val="0"/>
              </a:spcAft>
              <a:buNone/>
            </a:pPr>
            <a:r>
              <a:t/>
            </a:r>
            <a:endParaRPr b="1" sz="16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Bug, Defect, Failure, Mistake, Fault, Error</a:t>
            </a:r>
            <a:endParaRPr/>
          </a:p>
        </p:txBody>
      </p:sp>
      <p:sp>
        <p:nvSpPr>
          <p:cNvPr id="253" name="Google Shape;253;p24"/>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54" name="Google Shape;254;p24"/>
          <p:cNvSpPr/>
          <p:nvPr/>
        </p:nvSpPr>
        <p:spPr>
          <a:xfrm>
            <a:off x="493986" y="1539386"/>
            <a:ext cx="1799292" cy="1324853"/>
          </a:xfrm>
          <a:custGeom>
            <a:rect b="b" l="l" r="r" t="t"/>
            <a:pathLst>
              <a:path extrusionOk="0" h="758648" w="1378565">
                <a:moveTo>
                  <a:pt x="0" y="75865"/>
                </a:moveTo>
                <a:cubicBezTo>
                  <a:pt x="0" y="33966"/>
                  <a:pt x="33966" y="0"/>
                  <a:pt x="75865" y="0"/>
                </a:cubicBezTo>
                <a:lnTo>
                  <a:pt x="1302700" y="0"/>
                </a:lnTo>
                <a:cubicBezTo>
                  <a:pt x="1344599" y="0"/>
                  <a:pt x="1378565" y="33966"/>
                  <a:pt x="1378565" y="75865"/>
                </a:cubicBezTo>
                <a:lnTo>
                  <a:pt x="1378565" y="682783"/>
                </a:lnTo>
                <a:cubicBezTo>
                  <a:pt x="1378565" y="724682"/>
                  <a:pt x="1344599" y="758648"/>
                  <a:pt x="1302700" y="758648"/>
                </a:cubicBezTo>
                <a:lnTo>
                  <a:pt x="75865" y="758648"/>
                </a:lnTo>
                <a:cubicBezTo>
                  <a:pt x="33966" y="758648"/>
                  <a:pt x="0" y="724682"/>
                  <a:pt x="0" y="682783"/>
                </a:cubicBezTo>
                <a:lnTo>
                  <a:pt x="0" y="75865"/>
                </a:lnTo>
                <a:close/>
              </a:path>
            </a:pathLst>
          </a:custGeom>
          <a:solidFill>
            <a:schemeClr val="accent1"/>
          </a:solidFill>
          <a:ln cap="flat" cmpd="sng" w="12700">
            <a:solidFill>
              <a:schemeClr val="lt1"/>
            </a:solidFill>
            <a:prstDash val="solid"/>
            <a:miter lim="800000"/>
            <a:headEnd len="sm" w="sm" type="none"/>
            <a:tailEnd len="sm" w="sm" type="none"/>
          </a:ln>
        </p:spPr>
        <p:txBody>
          <a:bodyPr anchorCtr="0" anchor="t" bIns="287150" lIns="64000" spcFirstLastPara="1" rIns="64000" wrap="square" tIns="64000">
            <a:noAutofit/>
          </a:bodyPr>
          <a:lstStyle/>
          <a:p>
            <a:pPr indent="0" lvl="0" marL="0" marR="0" rtl="0" algn="l">
              <a:lnSpc>
                <a:spcPct val="90000"/>
              </a:lnSpc>
              <a:spcBef>
                <a:spcPts val="0"/>
              </a:spcBef>
              <a:spcAft>
                <a:spcPts val="0"/>
              </a:spcAft>
              <a:buNone/>
            </a:pPr>
            <a:r>
              <a:rPr b="0" i="0" lang="de-DE" sz="1600" u="none">
                <a:solidFill>
                  <a:schemeClr val="lt1"/>
                </a:solidFill>
                <a:latin typeface="Arial"/>
                <a:ea typeface="Arial"/>
                <a:cs typeface="Arial"/>
                <a:sym typeface="Arial"/>
              </a:rPr>
              <a:t>Error, mistake </a:t>
            </a:r>
            <a:br>
              <a:rPr b="0" i="0" lang="de-DE" sz="1600" u="none">
                <a:solidFill>
                  <a:schemeClr val="lt1"/>
                </a:solidFill>
                <a:latin typeface="Arial"/>
                <a:ea typeface="Arial"/>
                <a:cs typeface="Arial"/>
                <a:sym typeface="Arial"/>
              </a:rPr>
            </a:br>
            <a:r>
              <a:rPr b="0" i="0" lang="de-DE" sz="1600" u="none">
                <a:solidFill>
                  <a:schemeClr val="lt1"/>
                </a:solidFill>
                <a:latin typeface="Arial"/>
                <a:ea typeface="Arial"/>
                <a:cs typeface="Arial"/>
                <a:sym typeface="Arial"/>
              </a:rPr>
              <a:t>(Ошибка)</a:t>
            </a:r>
            <a:endParaRPr b="0" sz="1600">
              <a:solidFill>
                <a:schemeClr val="lt1"/>
              </a:solidFill>
              <a:latin typeface="Arial"/>
              <a:ea typeface="Arial"/>
              <a:cs typeface="Arial"/>
              <a:sym typeface="Arial"/>
            </a:endParaRPr>
          </a:p>
          <a:p>
            <a:pPr indent="0" lvl="0" marL="0" marR="0" rtl="0" algn="l">
              <a:lnSpc>
                <a:spcPct val="90000"/>
              </a:lnSpc>
              <a:spcBef>
                <a:spcPts val="560"/>
              </a:spcBef>
              <a:spcAft>
                <a:spcPts val="0"/>
              </a:spcAft>
              <a:buNone/>
            </a:pPr>
            <a:r>
              <a:t/>
            </a:r>
            <a:endParaRPr sz="900">
              <a:solidFill>
                <a:schemeClr val="lt1"/>
              </a:solidFill>
              <a:latin typeface="Arial"/>
              <a:ea typeface="Arial"/>
              <a:cs typeface="Arial"/>
              <a:sym typeface="Arial"/>
            </a:endParaRPr>
          </a:p>
        </p:txBody>
      </p:sp>
      <p:sp>
        <p:nvSpPr>
          <p:cNvPr id="255" name="Google Shape;255;p24"/>
          <p:cNvSpPr/>
          <p:nvPr/>
        </p:nvSpPr>
        <p:spPr>
          <a:xfrm>
            <a:off x="862516" y="2422622"/>
            <a:ext cx="1799292" cy="1602840"/>
          </a:xfrm>
          <a:custGeom>
            <a:rect b="b" l="l" r="r" t="t"/>
            <a:pathLst>
              <a:path extrusionOk="0" h="917831" w="1378565">
                <a:moveTo>
                  <a:pt x="0" y="91783"/>
                </a:moveTo>
                <a:cubicBezTo>
                  <a:pt x="0" y="41093"/>
                  <a:pt x="41093" y="0"/>
                  <a:pt x="91783" y="0"/>
                </a:cubicBezTo>
                <a:lnTo>
                  <a:pt x="1286782" y="0"/>
                </a:lnTo>
                <a:cubicBezTo>
                  <a:pt x="1337472" y="0"/>
                  <a:pt x="1378565" y="41093"/>
                  <a:pt x="1378565" y="91783"/>
                </a:cubicBezTo>
                <a:lnTo>
                  <a:pt x="1378565" y="826048"/>
                </a:lnTo>
                <a:cubicBezTo>
                  <a:pt x="1378565" y="876738"/>
                  <a:pt x="1337472" y="917831"/>
                  <a:pt x="1286782" y="917831"/>
                </a:cubicBezTo>
                <a:lnTo>
                  <a:pt x="91783" y="917831"/>
                </a:lnTo>
                <a:cubicBezTo>
                  <a:pt x="41093" y="917831"/>
                  <a:pt x="0" y="876738"/>
                  <a:pt x="0" y="826048"/>
                </a:cubicBezTo>
                <a:lnTo>
                  <a:pt x="0" y="91783"/>
                </a:lnTo>
                <a:close/>
              </a:path>
            </a:pathLst>
          </a:custGeom>
          <a:solidFill>
            <a:schemeClr val="lt1">
              <a:alpha val="89803"/>
            </a:schemeClr>
          </a:solidFill>
          <a:ln cap="flat" cmpd="sng" w="12700">
            <a:solidFill>
              <a:schemeClr val="accent1"/>
            </a:solidFill>
            <a:prstDash val="solid"/>
            <a:miter lim="800000"/>
            <a:headEnd len="sm" w="sm" type="none"/>
            <a:tailEnd len="sm" w="sm" type="none"/>
          </a:ln>
        </p:spPr>
        <p:txBody>
          <a:bodyPr anchorCtr="0" anchor="t" bIns="90875" lIns="90875" spcFirstLastPara="1" rIns="90875" wrap="square" tIns="90875">
            <a:noAutofit/>
          </a:bodyPr>
          <a:lstStyle/>
          <a:p>
            <a:pPr indent="0" lvl="1" marL="0" marR="0" rtl="0" algn="l">
              <a:lnSpc>
                <a:spcPct val="90000"/>
              </a:lnSpc>
              <a:spcBef>
                <a:spcPts val="0"/>
              </a:spcBef>
              <a:spcAft>
                <a:spcPts val="0"/>
              </a:spcAft>
              <a:buNone/>
            </a:pPr>
            <a:r>
              <a:rPr b="0" i="0" lang="de-DE" sz="1400" u="none" cap="none" strike="noStrike">
                <a:solidFill>
                  <a:schemeClr val="dk1"/>
                </a:solidFill>
                <a:latin typeface="Arial"/>
                <a:ea typeface="Arial"/>
                <a:cs typeface="Arial"/>
                <a:sym typeface="Arial"/>
              </a:rPr>
              <a:t>Ошибка в документации или в коде может привести к неисправности</a:t>
            </a:r>
            <a:endParaRPr b="0" i="0" sz="1400" u="none" cap="none" strike="noStrike">
              <a:solidFill>
                <a:schemeClr val="dk1"/>
              </a:solidFill>
              <a:latin typeface="Arial"/>
              <a:ea typeface="Arial"/>
              <a:cs typeface="Arial"/>
              <a:sym typeface="Arial"/>
            </a:endParaRPr>
          </a:p>
          <a:p>
            <a:pPr indent="0" lvl="1" marL="57150" marR="0" rtl="0" algn="l">
              <a:lnSpc>
                <a:spcPct val="90000"/>
              </a:lnSpc>
              <a:spcBef>
                <a:spcPts val="21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p:txBody>
      </p:sp>
      <p:sp>
        <p:nvSpPr>
          <p:cNvPr id="256" name="Google Shape;256;p24"/>
          <p:cNvSpPr/>
          <p:nvPr/>
        </p:nvSpPr>
        <p:spPr>
          <a:xfrm>
            <a:off x="2566045" y="1681312"/>
            <a:ext cx="578264" cy="599380"/>
          </a:xfrm>
          <a:custGeom>
            <a:rect b="b" l="l" r="r" t="t"/>
            <a:pathLst>
              <a:path extrusionOk="0" h="343222" w="443049">
                <a:moveTo>
                  <a:pt x="0" y="68644"/>
                </a:moveTo>
                <a:lnTo>
                  <a:pt x="271438" y="68644"/>
                </a:lnTo>
                <a:lnTo>
                  <a:pt x="271438" y="0"/>
                </a:lnTo>
                <a:lnTo>
                  <a:pt x="443049" y="171611"/>
                </a:lnTo>
                <a:lnTo>
                  <a:pt x="271438" y="343222"/>
                </a:lnTo>
                <a:lnTo>
                  <a:pt x="271438" y="274578"/>
                </a:lnTo>
                <a:lnTo>
                  <a:pt x="0" y="274578"/>
                </a:lnTo>
                <a:lnTo>
                  <a:pt x="0" y="68644"/>
                </a:lnTo>
                <a:close/>
              </a:path>
            </a:pathLst>
          </a:custGeom>
          <a:solidFill>
            <a:srgbClr val="A7D2A8"/>
          </a:solidFill>
          <a:ln>
            <a:noFill/>
          </a:ln>
        </p:spPr>
        <p:txBody>
          <a:bodyPr anchorCtr="0" anchor="ctr" bIns="68625" lIns="0" spcFirstLastPara="1" rIns="102950" wrap="square" tIns="68625">
            <a:noAutofit/>
          </a:bodyPr>
          <a:lstStyle/>
          <a:p>
            <a:pPr indent="0" lvl="0" marL="0" marR="0" rtl="0" algn="ctr">
              <a:lnSpc>
                <a:spcPct val="90000"/>
              </a:lnSpc>
              <a:spcBef>
                <a:spcPts val="0"/>
              </a:spcBef>
              <a:spcAft>
                <a:spcPts val="0"/>
              </a:spcAft>
              <a:buNone/>
            </a:pPr>
            <a:r>
              <a:t/>
            </a:r>
            <a:endParaRPr sz="700">
              <a:solidFill>
                <a:schemeClr val="lt1"/>
              </a:solidFill>
              <a:latin typeface="Arial"/>
              <a:ea typeface="Arial"/>
              <a:cs typeface="Arial"/>
              <a:sym typeface="Arial"/>
            </a:endParaRPr>
          </a:p>
        </p:txBody>
      </p:sp>
      <p:sp>
        <p:nvSpPr>
          <p:cNvPr id="257" name="Google Shape;257;p24"/>
          <p:cNvSpPr/>
          <p:nvPr/>
        </p:nvSpPr>
        <p:spPr>
          <a:xfrm>
            <a:off x="3384344" y="1539386"/>
            <a:ext cx="1799292" cy="1324853"/>
          </a:xfrm>
          <a:custGeom>
            <a:rect b="b" l="l" r="r" t="t"/>
            <a:pathLst>
              <a:path extrusionOk="0" h="758648" w="1378565">
                <a:moveTo>
                  <a:pt x="0" y="75865"/>
                </a:moveTo>
                <a:cubicBezTo>
                  <a:pt x="0" y="33966"/>
                  <a:pt x="33966" y="0"/>
                  <a:pt x="75865" y="0"/>
                </a:cubicBezTo>
                <a:lnTo>
                  <a:pt x="1302700" y="0"/>
                </a:lnTo>
                <a:cubicBezTo>
                  <a:pt x="1344599" y="0"/>
                  <a:pt x="1378565" y="33966"/>
                  <a:pt x="1378565" y="75865"/>
                </a:cubicBezTo>
                <a:lnTo>
                  <a:pt x="1378565" y="682783"/>
                </a:lnTo>
                <a:cubicBezTo>
                  <a:pt x="1378565" y="724682"/>
                  <a:pt x="1344599" y="758648"/>
                  <a:pt x="1302700" y="758648"/>
                </a:cubicBezTo>
                <a:lnTo>
                  <a:pt x="75865" y="758648"/>
                </a:lnTo>
                <a:cubicBezTo>
                  <a:pt x="33966" y="758648"/>
                  <a:pt x="0" y="724682"/>
                  <a:pt x="0" y="682783"/>
                </a:cubicBezTo>
                <a:lnTo>
                  <a:pt x="0" y="75865"/>
                </a:lnTo>
                <a:close/>
              </a:path>
            </a:pathLst>
          </a:custGeom>
          <a:solidFill>
            <a:schemeClr val="accent1"/>
          </a:solidFill>
          <a:ln cap="flat" cmpd="sng" w="12700">
            <a:solidFill>
              <a:schemeClr val="lt1"/>
            </a:solidFill>
            <a:prstDash val="solid"/>
            <a:miter lim="800000"/>
            <a:headEnd len="sm" w="sm" type="none"/>
            <a:tailEnd len="sm" w="sm" type="none"/>
          </a:ln>
        </p:spPr>
        <p:txBody>
          <a:bodyPr anchorCtr="0" anchor="t" bIns="287150" lIns="64000" spcFirstLastPara="1" rIns="64000" wrap="square" tIns="64000">
            <a:noAutofit/>
          </a:bodyPr>
          <a:lstStyle/>
          <a:p>
            <a:pPr indent="0" lvl="0" marL="0" marR="0" rtl="0" algn="l">
              <a:lnSpc>
                <a:spcPct val="90000"/>
              </a:lnSpc>
              <a:spcBef>
                <a:spcPts val="0"/>
              </a:spcBef>
              <a:spcAft>
                <a:spcPts val="0"/>
              </a:spcAft>
              <a:buNone/>
            </a:pPr>
            <a:r>
              <a:rPr b="0" i="0" lang="de-DE" sz="1600" u="none">
                <a:solidFill>
                  <a:schemeClr val="lt1"/>
                </a:solidFill>
                <a:latin typeface="Arial"/>
                <a:ea typeface="Arial"/>
                <a:cs typeface="Arial"/>
                <a:sym typeface="Arial"/>
              </a:rPr>
              <a:t>Defect, Bug, Fault (Неисправность)</a:t>
            </a:r>
            <a:endParaRPr b="0" sz="1600">
              <a:solidFill>
                <a:schemeClr val="lt1"/>
              </a:solidFill>
              <a:latin typeface="Arial"/>
              <a:ea typeface="Arial"/>
              <a:cs typeface="Arial"/>
              <a:sym typeface="Arial"/>
            </a:endParaRPr>
          </a:p>
          <a:p>
            <a:pPr indent="0" lvl="0" marL="0" marR="0" rtl="0" algn="l">
              <a:lnSpc>
                <a:spcPct val="90000"/>
              </a:lnSpc>
              <a:spcBef>
                <a:spcPts val="560"/>
              </a:spcBef>
              <a:spcAft>
                <a:spcPts val="0"/>
              </a:spcAft>
              <a:buNone/>
            </a:pPr>
            <a:r>
              <a:t/>
            </a:r>
            <a:endParaRPr sz="900">
              <a:solidFill>
                <a:schemeClr val="lt1"/>
              </a:solidFill>
              <a:latin typeface="Arial"/>
              <a:ea typeface="Arial"/>
              <a:cs typeface="Arial"/>
              <a:sym typeface="Arial"/>
            </a:endParaRPr>
          </a:p>
        </p:txBody>
      </p:sp>
      <p:sp>
        <p:nvSpPr>
          <p:cNvPr id="258" name="Google Shape;258;p24"/>
          <p:cNvSpPr/>
          <p:nvPr/>
        </p:nvSpPr>
        <p:spPr>
          <a:xfrm>
            <a:off x="3752873" y="2422622"/>
            <a:ext cx="1799292" cy="1602840"/>
          </a:xfrm>
          <a:custGeom>
            <a:rect b="b" l="l" r="r" t="t"/>
            <a:pathLst>
              <a:path extrusionOk="0" h="917831" w="1378565">
                <a:moveTo>
                  <a:pt x="0" y="91783"/>
                </a:moveTo>
                <a:cubicBezTo>
                  <a:pt x="0" y="41093"/>
                  <a:pt x="41093" y="0"/>
                  <a:pt x="91783" y="0"/>
                </a:cubicBezTo>
                <a:lnTo>
                  <a:pt x="1286782" y="0"/>
                </a:lnTo>
                <a:cubicBezTo>
                  <a:pt x="1337472" y="0"/>
                  <a:pt x="1378565" y="41093"/>
                  <a:pt x="1378565" y="91783"/>
                </a:cubicBezTo>
                <a:lnTo>
                  <a:pt x="1378565" y="826048"/>
                </a:lnTo>
                <a:cubicBezTo>
                  <a:pt x="1378565" y="876738"/>
                  <a:pt x="1337472" y="917831"/>
                  <a:pt x="1286782" y="917831"/>
                </a:cubicBezTo>
                <a:lnTo>
                  <a:pt x="91783" y="917831"/>
                </a:lnTo>
                <a:cubicBezTo>
                  <a:pt x="41093" y="917831"/>
                  <a:pt x="0" y="876738"/>
                  <a:pt x="0" y="826048"/>
                </a:cubicBezTo>
                <a:lnTo>
                  <a:pt x="0" y="91783"/>
                </a:lnTo>
                <a:close/>
              </a:path>
            </a:pathLst>
          </a:custGeom>
          <a:solidFill>
            <a:schemeClr val="lt1">
              <a:alpha val="89803"/>
            </a:schemeClr>
          </a:solidFill>
          <a:ln cap="flat" cmpd="sng" w="12700">
            <a:solidFill>
              <a:schemeClr val="accent1"/>
            </a:solidFill>
            <a:prstDash val="solid"/>
            <a:miter lim="800000"/>
            <a:headEnd len="sm" w="sm" type="none"/>
            <a:tailEnd len="sm" w="sm" type="none"/>
          </a:ln>
        </p:spPr>
        <p:txBody>
          <a:bodyPr anchorCtr="0" anchor="t" bIns="90875" lIns="90875" spcFirstLastPara="1" rIns="90875" wrap="square" tIns="90875">
            <a:noAutofit/>
          </a:bodyPr>
          <a:lstStyle/>
          <a:p>
            <a:pPr indent="0" lvl="1" marL="0" marR="0" rtl="0" algn="l">
              <a:lnSpc>
                <a:spcPct val="90000"/>
              </a:lnSpc>
              <a:spcBef>
                <a:spcPts val="0"/>
              </a:spcBef>
              <a:spcAft>
                <a:spcPts val="0"/>
              </a:spcAft>
              <a:buNone/>
            </a:pPr>
            <a:r>
              <a:rPr b="0" i="0" lang="de-DE" sz="1400" u="none" cap="none" strike="noStrike">
                <a:solidFill>
                  <a:schemeClr val="dk1"/>
                </a:solidFill>
                <a:latin typeface="Arial"/>
                <a:ea typeface="Arial"/>
                <a:cs typeface="Arial"/>
                <a:sym typeface="Arial"/>
              </a:rPr>
              <a:t>Неисправность может привести к отказу работоспособности программы</a:t>
            </a:r>
            <a:endParaRPr b="0" i="0" sz="1400" u="none" cap="none" strike="noStrike">
              <a:solidFill>
                <a:schemeClr val="dk1"/>
              </a:solidFill>
              <a:latin typeface="Arial"/>
              <a:ea typeface="Arial"/>
              <a:cs typeface="Arial"/>
              <a:sym typeface="Arial"/>
            </a:endParaRPr>
          </a:p>
          <a:p>
            <a:pPr indent="0" lvl="1" marL="57150" marR="0" rtl="0" algn="l">
              <a:lnSpc>
                <a:spcPct val="90000"/>
              </a:lnSpc>
              <a:spcBef>
                <a:spcPts val="21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p:txBody>
      </p:sp>
      <p:sp>
        <p:nvSpPr>
          <p:cNvPr id="259" name="Google Shape;259;p24"/>
          <p:cNvSpPr/>
          <p:nvPr/>
        </p:nvSpPr>
        <p:spPr>
          <a:xfrm>
            <a:off x="5456401" y="1681312"/>
            <a:ext cx="578264" cy="599380"/>
          </a:xfrm>
          <a:custGeom>
            <a:rect b="b" l="l" r="r" t="t"/>
            <a:pathLst>
              <a:path extrusionOk="0" h="343222" w="443049">
                <a:moveTo>
                  <a:pt x="0" y="68644"/>
                </a:moveTo>
                <a:lnTo>
                  <a:pt x="271438" y="68644"/>
                </a:lnTo>
                <a:lnTo>
                  <a:pt x="271438" y="0"/>
                </a:lnTo>
                <a:lnTo>
                  <a:pt x="443049" y="171611"/>
                </a:lnTo>
                <a:lnTo>
                  <a:pt x="271438" y="343222"/>
                </a:lnTo>
                <a:lnTo>
                  <a:pt x="271438" y="274578"/>
                </a:lnTo>
                <a:lnTo>
                  <a:pt x="0" y="274578"/>
                </a:lnTo>
                <a:lnTo>
                  <a:pt x="0" y="68644"/>
                </a:lnTo>
                <a:close/>
              </a:path>
            </a:pathLst>
          </a:custGeom>
          <a:solidFill>
            <a:srgbClr val="A7D2A8"/>
          </a:solidFill>
          <a:ln>
            <a:noFill/>
          </a:ln>
        </p:spPr>
        <p:txBody>
          <a:bodyPr anchorCtr="0" anchor="ctr" bIns="68625" lIns="0" spcFirstLastPara="1" rIns="102950" wrap="square" tIns="68625">
            <a:noAutofit/>
          </a:bodyPr>
          <a:lstStyle/>
          <a:p>
            <a:pPr indent="0" lvl="0" marL="0" marR="0" rtl="0" algn="ctr">
              <a:lnSpc>
                <a:spcPct val="90000"/>
              </a:lnSpc>
              <a:spcBef>
                <a:spcPts val="0"/>
              </a:spcBef>
              <a:spcAft>
                <a:spcPts val="0"/>
              </a:spcAft>
              <a:buNone/>
            </a:pPr>
            <a:r>
              <a:t/>
            </a:r>
            <a:endParaRPr sz="700">
              <a:solidFill>
                <a:schemeClr val="lt1"/>
              </a:solidFill>
              <a:latin typeface="Arial"/>
              <a:ea typeface="Arial"/>
              <a:cs typeface="Arial"/>
              <a:sym typeface="Arial"/>
            </a:endParaRPr>
          </a:p>
        </p:txBody>
      </p:sp>
      <p:sp>
        <p:nvSpPr>
          <p:cNvPr id="260" name="Google Shape;260;p24"/>
          <p:cNvSpPr/>
          <p:nvPr/>
        </p:nvSpPr>
        <p:spPr>
          <a:xfrm>
            <a:off x="6274700" y="1539386"/>
            <a:ext cx="1799292" cy="1324853"/>
          </a:xfrm>
          <a:custGeom>
            <a:rect b="b" l="l" r="r" t="t"/>
            <a:pathLst>
              <a:path extrusionOk="0" h="758648" w="1378565">
                <a:moveTo>
                  <a:pt x="0" y="75865"/>
                </a:moveTo>
                <a:cubicBezTo>
                  <a:pt x="0" y="33966"/>
                  <a:pt x="33966" y="0"/>
                  <a:pt x="75865" y="0"/>
                </a:cubicBezTo>
                <a:lnTo>
                  <a:pt x="1302700" y="0"/>
                </a:lnTo>
                <a:cubicBezTo>
                  <a:pt x="1344599" y="0"/>
                  <a:pt x="1378565" y="33966"/>
                  <a:pt x="1378565" y="75865"/>
                </a:cubicBezTo>
                <a:lnTo>
                  <a:pt x="1378565" y="682783"/>
                </a:lnTo>
                <a:cubicBezTo>
                  <a:pt x="1378565" y="724682"/>
                  <a:pt x="1344599" y="758648"/>
                  <a:pt x="1302700" y="758648"/>
                </a:cubicBezTo>
                <a:lnTo>
                  <a:pt x="75865" y="758648"/>
                </a:lnTo>
                <a:cubicBezTo>
                  <a:pt x="33966" y="758648"/>
                  <a:pt x="0" y="724682"/>
                  <a:pt x="0" y="682783"/>
                </a:cubicBezTo>
                <a:lnTo>
                  <a:pt x="0" y="75865"/>
                </a:lnTo>
                <a:close/>
              </a:path>
            </a:pathLst>
          </a:custGeom>
          <a:solidFill>
            <a:schemeClr val="accent1"/>
          </a:solidFill>
          <a:ln cap="flat" cmpd="sng" w="12700">
            <a:solidFill>
              <a:schemeClr val="lt1"/>
            </a:solidFill>
            <a:prstDash val="solid"/>
            <a:miter lim="800000"/>
            <a:headEnd len="sm" w="sm" type="none"/>
            <a:tailEnd len="sm" w="sm" type="none"/>
          </a:ln>
        </p:spPr>
        <p:txBody>
          <a:bodyPr anchorCtr="0" anchor="t" bIns="287150" lIns="64000" spcFirstLastPara="1" rIns="64000" wrap="square" tIns="64000">
            <a:noAutofit/>
          </a:bodyPr>
          <a:lstStyle/>
          <a:p>
            <a:pPr indent="0" lvl="0" marL="0" marR="0" rtl="0" algn="l">
              <a:lnSpc>
                <a:spcPct val="90000"/>
              </a:lnSpc>
              <a:spcBef>
                <a:spcPts val="0"/>
              </a:spcBef>
              <a:spcAft>
                <a:spcPts val="0"/>
              </a:spcAft>
              <a:buNone/>
            </a:pPr>
            <a:r>
              <a:rPr b="0" i="0" lang="de-DE" sz="1600" u="none">
                <a:solidFill>
                  <a:schemeClr val="lt1"/>
                </a:solidFill>
                <a:latin typeface="Arial"/>
                <a:ea typeface="Arial"/>
                <a:cs typeface="Arial"/>
                <a:sym typeface="Arial"/>
              </a:rPr>
              <a:t>Failure </a:t>
            </a:r>
            <a:br>
              <a:rPr b="0" i="0" lang="de-DE" sz="1600" u="none">
                <a:solidFill>
                  <a:schemeClr val="lt1"/>
                </a:solidFill>
                <a:latin typeface="Arial"/>
                <a:ea typeface="Arial"/>
                <a:cs typeface="Arial"/>
                <a:sym typeface="Arial"/>
              </a:rPr>
            </a:br>
            <a:r>
              <a:rPr b="0" i="0" lang="de-DE" sz="1600" u="none">
                <a:solidFill>
                  <a:schemeClr val="lt1"/>
                </a:solidFill>
                <a:latin typeface="Arial"/>
                <a:ea typeface="Arial"/>
                <a:cs typeface="Arial"/>
                <a:sym typeface="Arial"/>
              </a:rPr>
              <a:t>(Отказ)</a:t>
            </a:r>
            <a:endParaRPr b="0" sz="1600">
              <a:solidFill>
                <a:schemeClr val="lt1"/>
              </a:solidFill>
              <a:latin typeface="Arial"/>
              <a:ea typeface="Arial"/>
              <a:cs typeface="Arial"/>
              <a:sym typeface="Arial"/>
            </a:endParaRPr>
          </a:p>
          <a:p>
            <a:pPr indent="0" lvl="0" marL="0" marR="0" rtl="0" algn="l">
              <a:lnSpc>
                <a:spcPct val="90000"/>
              </a:lnSpc>
              <a:spcBef>
                <a:spcPts val="560"/>
              </a:spcBef>
              <a:spcAft>
                <a:spcPts val="0"/>
              </a:spcAft>
              <a:buNone/>
            </a:pPr>
            <a:r>
              <a:t/>
            </a:r>
            <a:endParaRPr sz="900">
              <a:solidFill>
                <a:schemeClr val="lt1"/>
              </a:solidFill>
              <a:latin typeface="Arial"/>
              <a:ea typeface="Arial"/>
              <a:cs typeface="Arial"/>
              <a:sym typeface="Arial"/>
            </a:endParaRPr>
          </a:p>
        </p:txBody>
      </p:sp>
      <p:sp>
        <p:nvSpPr>
          <p:cNvPr id="261" name="Google Shape;261;p24"/>
          <p:cNvSpPr/>
          <p:nvPr/>
        </p:nvSpPr>
        <p:spPr>
          <a:xfrm>
            <a:off x="6643229" y="2422622"/>
            <a:ext cx="1799292" cy="1602840"/>
          </a:xfrm>
          <a:custGeom>
            <a:rect b="b" l="l" r="r" t="t"/>
            <a:pathLst>
              <a:path extrusionOk="0" h="917831" w="1378565">
                <a:moveTo>
                  <a:pt x="0" y="91783"/>
                </a:moveTo>
                <a:cubicBezTo>
                  <a:pt x="0" y="41093"/>
                  <a:pt x="41093" y="0"/>
                  <a:pt x="91783" y="0"/>
                </a:cubicBezTo>
                <a:lnTo>
                  <a:pt x="1286782" y="0"/>
                </a:lnTo>
                <a:cubicBezTo>
                  <a:pt x="1337472" y="0"/>
                  <a:pt x="1378565" y="41093"/>
                  <a:pt x="1378565" y="91783"/>
                </a:cubicBezTo>
                <a:lnTo>
                  <a:pt x="1378565" y="826048"/>
                </a:lnTo>
                <a:cubicBezTo>
                  <a:pt x="1378565" y="876738"/>
                  <a:pt x="1337472" y="917831"/>
                  <a:pt x="1286782" y="917831"/>
                </a:cubicBezTo>
                <a:lnTo>
                  <a:pt x="91783" y="917831"/>
                </a:lnTo>
                <a:cubicBezTo>
                  <a:pt x="41093" y="917831"/>
                  <a:pt x="0" y="876738"/>
                  <a:pt x="0" y="826048"/>
                </a:cubicBezTo>
                <a:lnTo>
                  <a:pt x="0" y="91783"/>
                </a:lnTo>
                <a:close/>
              </a:path>
            </a:pathLst>
          </a:custGeom>
          <a:solidFill>
            <a:schemeClr val="lt1">
              <a:alpha val="89803"/>
            </a:schemeClr>
          </a:solidFill>
          <a:ln cap="flat" cmpd="sng" w="12700">
            <a:solidFill>
              <a:schemeClr val="accent1"/>
            </a:solidFill>
            <a:prstDash val="solid"/>
            <a:miter lim="800000"/>
            <a:headEnd len="sm" w="sm" type="none"/>
            <a:tailEnd len="sm" w="sm" type="none"/>
          </a:ln>
        </p:spPr>
        <p:txBody>
          <a:bodyPr anchorCtr="0" anchor="t" bIns="90875" lIns="90875" spcFirstLastPara="1" rIns="90875" wrap="square" tIns="90875">
            <a:noAutofit/>
          </a:bodyPr>
          <a:lstStyle/>
          <a:p>
            <a:pPr indent="0" lvl="1" marL="0" marR="0" rtl="0" algn="l">
              <a:lnSpc>
                <a:spcPct val="90000"/>
              </a:lnSpc>
              <a:spcBef>
                <a:spcPts val="0"/>
              </a:spcBef>
              <a:spcAft>
                <a:spcPts val="0"/>
              </a:spcAft>
              <a:buNone/>
            </a:pPr>
            <a:r>
              <a:rPr b="0" i="0" lang="de-DE" sz="1400" u="none" cap="none" strike="noStrike">
                <a:solidFill>
                  <a:schemeClr val="dk1"/>
                </a:solidFill>
                <a:latin typeface="Arial"/>
                <a:ea typeface="Arial"/>
                <a:cs typeface="Arial"/>
                <a:sym typeface="Arial"/>
              </a:rPr>
              <a:t>Отказ работоспособности программы влияет на пользователей</a:t>
            </a:r>
            <a:endParaRPr b="0" i="0" sz="1400" u="none" cap="none" strike="noStrike">
              <a:solidFill>
                <a:schemeClr val="dk1"/>
              </a:solidFill>
              <a:latin typeface="Arial"/>
              <a:ea typeface="Arial"/>
              <a:cs typeface="Arial"/>
              <a:sym typeface="Arial"/>
            </a:endParaRPr>
          </a:p>
          <a:p>
            <a:pPr indent="0" lvl="1" marL="57150" marR="0" rtl="0" algn="l">
              <a:lnSpc>
                <a:spcPct val="90000"/>
              </a:lnSpc>
              <a:spcBef>
                <a:spcPts val="21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6"/>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Priority/Severity</a:t>
            </a:r>
            <a:endParaRPr/>
          </a:p>
        </p:txBody>
      </p:sp>
      <p:sp>
        <p:nvSpPr>
          <p:cNvPr id="268" name="Google Shape;268;p26"/>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69" name="Google Shape;269;p26"/>
          <p:cNvSpPr/>
          <p:nvPr/>
        </p:nvSpPr>
        <p:spPr>
          <a:xfrm>
            <a:off x="472965" y="1504865"/>
            <a:ext cx="7940565" cy="223651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de-DE" sz="1800">
                <a:solidFill>
                  <a:srgbClr val="000000"/>
                </a:solidFill>
                <a:latin typeface="Roboto"/>
                <a:ea typeface="Roboto"/>
                <a:cs typeface="Roboto"/>
                <a:sym typeface="Roboto"/>
              </a:rPr>
              <a:t>Серьезность (Severity)</a:t>
            </a:r>
            <a:r>
              <a:rPr lang="de-DE" sz="1800">
                <a:solidFill>
                  <a:srgbClr val="000000"/>
                </a:solidFill>
                <a:latin typeface="Roboto"/>
                <a:ea typeface="Roboto"/>
                <a:cs typeface="Roboto"/>
                <a:sym typeface="Roboto"/>
              </a:rPr>
              <a:t> - это атрибут, характеризующий влияние дефекта на работоспособность приложения</a:t>
            </a:r>
            <a:endParaRPr/>
          </a:p>
          <a:p>
            <a:pPr indent="0" lvl="0" marL="0" marR="0" rtl="0" algn="just">
              <a:spcBef>
                <a:spcPts val="800"/>
              </a:spcBef>
              <a:spcAft>
                <a:spcPts val="0"/>
              </a:spcAft>
              <a:buNone/>
            </a:pPr>
            <a:r>
              <a:t/>
            </a:r>
            <a:endParaRPr sz="1800">
              <a:solidFill>
                <a:schemeClr val="dk1"/>
              </a:solidFill>
              <a:latin typeface="Arial"/>
              <a:ea typeface="Arial"/>
              <a:cs typeface="Arial"/>
              <a:sym typeface="Arial"/>
            </a:endParaRPr>
          </a:p>
          <a:p>
            <a:pPr indent="0" lvl="0" marL="0" marR="0" rtl="0" algn="just">
              <a:spcBef>
                <a:spcPts val="800"/>
              </a:spcBef>
              <a:spcAft>
                <a:spcPts val="0"/>
              </a:spcAft>
              <a:buNone/>
            </a:pPr>
            <a:r>
              <a:rPr b="1" lang="de-DE" sz="1800">
                <a:solidFill>
                  <a:srgbClr val="000000"/>
                </a:solidFill>
                <a:latin typeface="Roboto"/>
                <a:ea typeface="Roboto"/>
                <a:cs typeface="Roboto"/>
                <a:sym typeface="Roboto"/>
              </a:rPr>
              <a:t>Приоритет (Priority)</a:t>
            </a:r>
            <a:r>
              <a:rPr lang="de-DE" sz="1800">
                <a:solidFill>
                  <a:srgbClr val="000000"/>
                </a:solidFill>
                <a:latin typeface="Roboto"/>
                <a:ea typeface="Roboto"/>
                <a:cs typeface="Roboto"/>
                <a:sym typeface="Roboto"/>
              </a:rPr>
              <a:t> - это атрибут, указывающий на очередность выполнения задачи или устранения дефекта. Можно сказать, что это инструмент менеджера по планированию работ. Чем выше приоритет, тем быстрее нужно исправить дефект</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500"/>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500"/>
                                        <p:tgtEl>
                                          <p:spTgt spid="2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Effect filter="fade" transition="in">
                                      <p:cBhvr>
                                        <p:cTn dur="500"/>
                                        <p:tgtEl>
                                          <p:spTgt spid="26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7"/>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Определите Severity/Priority </a:t>
            </a:r>
            <a:endParaRPr/>
          </a:p>
        </p:txBody>
      </p:sp>
      <p:sp>
        <p:nvSpPr>
          <p:cNvPr id="276" name="Google Shape;276;p27"/>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77" name="Google Shape;277;p27"/>
          <p:cNvSpPr/>
          <p:nvPr/>
        </p:nvSpPr>
        <p:spPr>
          <a:xfrm>
            <a:off x="570310" y="1126492"/>
            <a:ext cx="7940565" cy="313932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На главной веб странице сделана опечатка</a:t>
            </a:r>
            <a:endParaRPr sz="10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Приложение падает, если пользователь введет отрицательное число в поле возраст</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Приложение падает, когда пользователь вводит данные в поле, а потом их редактирует</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В логах приложения пишется сообщение с кодом ошибка, в то время когда в реальности ошибки нет(неправильный лог левел)</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Приложение перестает писать логи</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В интернет магазине нельзя добавить в корзину определенную группу товаров</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В интернет магазине невозможно произвести оплату</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5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5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5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5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5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500"/>
                                        <p:tgtEl>
                                          <p:spTgt spid="2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6" st="6"/>
                                            </p:txEl>
                                          </p:spTgt>
                                        </p:tgtEl>
                                        <p:attrNameLst>
                                          <p:attrName>style.visibility</p:attrName>
                                        </p:attrNameLst>
                                      </p:cBhvr>
                                      <p:to>
                                        <p:strVal val="visible"/>
                                      </p:to>
                                    </p:set>
                                    <p:animEffect filter="fade" transition="in">
                                      <p:cBhvr>
                                        <p:cTn dur="500"/>
                                        <p:tgtEl>
                                          <p:spTgt spid="27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0"/>
          <p:cNvSpPr txBox="1"/>
          <p:nvPr/>
        </p:nvSpPr>
        <p:spPr>
          <a:xfrm>
            <a:off x="2913433" y="1930942"/>
            <a:ext cx="4143983" cy="800267"/>
          </a:xfrm>
          <a:prstGeom prst="rect">
            <a:avLst/>
          </a:prstGeom>
          <a:noFill/>
          <a:ln>
            <a:noFill/>
          </a:ln>
        </p:spPr>
        <p:txBody>
          <a:bodyPr anchorCtr="0" anchor="b" bIns="45700" lIns="91425" spcFirstLastPara="1" rIns="91425" wrap="square" tIns="45700">
            <a:noAutofit/>
          </a:bodyPr>
          <a:lstStyle/>
          <a:p>
            <a:pPr indent="0" lvl="0" marL="0" marR="0" rtl="0" algn="l">
              <a:lnSpc>
                <a:spcPct val="123000"/>
              </a:lnSpc>
              <a:spcBef>
                <a:spcPts val="0"/>
              </a:spcBef>
              <a:spcAft>
                <a:spcPts val="0"/>
              </a:spcAft>
              <a:buClr>
                <a:srgbClr val="00AD20"/>
              </a:buClr>
              <a:buSzPts val="4000"/>
              <a:buFont typeface="Arial"/>
              <a:buNone/>
            </a:pPr>
            <a:r>
              <a:rPr b="1" i="0" lang="de-DE" sz="4000">
                <a:solidFill>
                  <a:srgbClr val="19383A"/>
                </a:solidFill>
                <a:latin typeface="Arial"/>
                <a:ea typeface="Arial"/>
                <a:cs typeface="Arial"/>
                <a:sym typeface="Arial"/>
              </a:rPr>
              <a:t>Советы на будущее</a:t>
            </a:r>
            <a:endParaRPr b="1" i="0" sz="4000">
              <a:solidFill>
                <a:srgbClr val="19383A"/>
              </a:solidFill>
              <a:latin typeface="Arial"/>
              <a:ea typeface="Arial"/>
              <a:cs typeface="Arial"/>
              <a:sym typeface="Arial"/>
            </a:endParaRPr>
          </a:p>
        </p:txBody>
      </p:sp>
      <p:sp>
        <p:nvSpPr>
          <p:cNvPr id="283" name="Google Shape;283;p4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
        <p:nvSpPr>
          <p:cNvPr id="284" name="Google Shape;28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lang="de-DE"/>
              <a:t>Советы</a:t>
            </a:r>
            <a:endParaRPr/>
          </a:p>
        </p:txBody>
      </p:sp>
      <p:sp>
        <p:nvSpPr>
          <p:cNvPr id="290" name="Google Shape;290;p41"/>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291" name="Google Shape;291;p41"/>
          <p:cNvSpPr/>
          <p:nvPr/>
        </p:nvSpPr>
        <p:spPr>
          <a:xfrm>
            <a:off x="651642" y="786968"/>
            <a:ext cx="7236372" cy="372409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de-DE" sz="1600" u="sng">
                <a:solidFill>
                  <a:schemeClr val="dk1"/>
                </a:solidFill>
                <a:latin typeface="Arial"/>
                <a:ea typeface="Arial"/>
                <a:cs typeface="Arial"/>
                <a:sym typeface="Arial"/>
              </a:rPr>
              <a:t>Оптимизируйте тест дизайн</a:t>
            </a:r>
            <a:r>
              <a:rPr lang="de-DE" sz="1600">
                <a:solidFill>
                  <a:schemeClr val="dk1"/>
                </a:solidFill>
                <a:latin typeface="Arial"/>
                <a:ea typeface="Arial"/>
                <a:cs typeface="Arial"/>
                <a:sym typeface="Arial"/>
              </a:rPr>
              <a:t> (сокращение за счёт техник тест дизайна, за счёт области использования программы)</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u="sng">
                <a:solidFill>
                  <a:schemeClr val="dk1"/>
                </a:solidFill>
                <a:latin typeface="Arial"/>
                <a:ea typeface="Arial"/>
                <a:cs typeface="Arial"/>
                <a:sym typeface="Arial"/>
              </a:rPr>
              <a:t>Изучайте систему, которую тестируете </a:t>
            </a:r>
            <a:r>
              <a:rPr lang="de-DE" sz="1600">
                <a:solidFill>
                  <a:schemeClr val="dk1"/>
                </a:solidFill>
                <a:latin typeface="Arial"/>
                <a:ea typeface="Arial"/>
                <a:cs typeface="Arial"/>
                <a:sym typeface="Arial"/>
              </a:rPr>
              <a:t>(её область применения, аналоги, особенности)</a:t>
            </a:r>
            <a:endParaRPr/>
          </a:p>
          <a:p>
            <a:pPr indent="-285750" lvl="0" marL="285750" marR="0" rtl="0" algn="l">
              <a:spcBef>
                <a:spcPts val="0"/>
              </a:spcBef>
              <a:spcAft>
                <a:spcPts val="0"/>
              </a:spcAft>
              <a:buClr>
                <a:schemeClr val="dk1"/>
              </a:buClr>
              <a:buSzPts val="1600"/>
              <a:buFont typeface="Arial"/>
              <a:buChar char="•"/>
            </a:pPr>
            <a:r>
              <a:rPr lang="de-DE" sz="1600" u="sng">
                <a:solidFill>
                  <a:schemeClr val="dk1"/>
                </a:solidFill>
                <a:latin typeface="Arial"/>
                <a:ea typeface="Arial"/>
                <a:cs typeface="Arial"/>
                <a:sym typeface="Arial"/>
              </a:rPr>
              <a:t>Изучайте технологии </a:t>
            </a:r>
            <a:r>
              <a:rPr lang="de-DE" sz="1600">
                <a:solidFill>
                  <a:schemeClr val="dk1"/>
                </a:solidFill>
                <a:latin typeface="Arial"/>
                <a:ea typeface="Arial"/>
                <a:cs typeface="Arial"/>
                <a:sym typeface="Arial"/>
              </a:rPr>
              <a:t>(протоколы, операционные системы, системы развертывания и тд.)</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u="sng">
                <a:solidFill>
                  <a:schemeClr val="dk1"/>
                </a:solidFill>
                <a:latin typeface="Arial"/>
                <a:ea typeface="Arial"/>
                <a:cs typeface="Arial"/>
                <a:sym typeface="Arial"/>
              </a:rPr>
              <a:t>Советуйтесь с разработчиками</a:t>
            </a:r>
            <a:r>
              <a:rPr lang="de-DE" sz="1600">
                <a:solidFill>
                  <a:schemeClr val="dk1"/>
                </a:solidFill>
                <a:latin typeface="Arial"/>
                <a:ea typeface="Arial"/>
                <a:cs typeface="Arial"/>
                <a:sym typeface="Arial"/>
              </a:rPr>
              <a:t> (спрашивайте реализацию, слабые места, показывайте свои тесты)</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u="sng">
                <a:solidFill>
                  <a:schemeClr val="dk1"/>
                </a:solidFill>
                <a:latin typeface="Arial"/>
                <a:ea typeface="Arial"/>
                <a:cs typeface="Arial"/>
                <a:sym typeface="Arial"/>
              </a:rPr>
              <a:t>Используйте автоматизацию в ручном тестировании </a:t>
            </a:r>
            <a:r>
              <a:rPr lang="de-DE" sz="1600">
                <a:solidFill>
                  <a:schemeClr val="dk1"/>
                </a:solidFill>
                <a:latin typeface="Arial"/>
                <a:ea typeface="Arial"/>
                <a:cs typeface="Arial"/>
                <a:sym typeface="Arial"/>
              </a:rPr>
              <a:t>(скрипты для заполнения, подготовки данных и др)</a:t>
            </a:r>
            <a:endParaRPr/>
          </a:p>
          <a:p>
            <a:pPr indent="-285750" lvl="0" marL="285750" marR="0" rtl="0" algn="l">
              <a:spcBef>
                <a:spcPts val="0"/>
              </a:spcBef>
              <a:spcAft>
                <a:spcPts val="0"/>
              </a:spcAft>
              <a:buClr>
                <a:schemeClr val="dk1"/>
              </a:buClr>
              <a:buSzPts val="1600"/>
              <a:buFont typeface="Arial"/>
              <a:buChar char="•"/>
            </a:pPr>
            <a:r>
              <a:rPr lang="de-DE" sz="1600" u="sng">
                <a:solidFill>
                  <a:schemeClr val="dk1"/>
                </a:solidFill>
                <a:latin typeface="Arial"/>
                <a:ea typeface="Arial"/>
                <a:cs typeface="Arial"/>
                <a:sym typeface="Arial"/>
              </a:rPr>
              <a:t>Автоматизируйте важное</a:t>
            </a:r>
            <a:endParaRPr sz="1600" u="sng">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u="sng">
                <a:solidFill>
                  <a:schemeClr val="dk1"/>
                </a:solidFill>
                <a:latin typeface="Arial"/>
                <a:ea typeface="Arial"/>
                <a:cs typeface="Arial"/>
                <a:sym typeface="Arial"/>
              </a:rPr>
              <a:t>Не гоняйте все авто(ручные) тесты</a:t>
            </a:r>
            <a:r>
              <a:rPr lang="de-DE" sz="1600">
                <a:solidFill>
                  <a:schemeClr val="dk1"/>
                </a:solidFill>
                <a:latin typeface="Arial"/>
                <a:ea typeface="Arial"/>
                <a:cs typeface="Arial"/>
                <a:sym typeface="Arial"/>
              </a:rPr>
              <a:t>. Чтобы этого достичь необходимо:</a:t>
            </a:r>
            <a:endParaRPr/>
          </a:p>
          <a:p>
            <a:pPr indent="-285750" lvl="1" marL="742853" marR="0" rtl="0" algn="l">
              <a:spcBef>
                <a:spcPts val="0"/>
              </a:spcBef>
              <a:spcAft>
                <a:spcPts val="0"/>
              </a:spcAft>
              <a:buClr>
                <a:schemeClr val="dk1"/>
              </a:buClr>
              <a:buSzPts val="1600"/>
              <a:buFont typeface="Arial"/>
              <a:buChar char="•"/>
            </a:pPr>
            <a:r>
              <a:rPr b="0" i="0" lang="de-DE" sz="1600" u="none" cap="none" strike="noStrike">
                <a:solidFill>
                  <a:schemeClr val="dk1"/>
                </a:solidFill>
                <a:latin typeface="Arial"/>
                <a:ea typeface="Arial"/>
                <a:cs typeface="Arial"/>
                <a:sym typeface="Arial"/>
              </a:rPr>
              <a:t> Приоритизироать тесты, делить их на области, функции </a:t>
            </a:r>
            <a:endParaRPr/>
          </a:p>
          <a:p>
            <a:pPr indent="-285750" lvl="1" marL="742853" marR="0" rtl="0" algn="l">
              <a:spcBef>
                <a:spcPts val="0"/>
              </a:spcBef>
              <a:spcAft>
                <a:spcPts val="0"/>
              </a:spcAft>
              <a:buClr>
                <a:schemeClr val="dk1"/>
              </a:buClr>
              <a:buSzPts val="1600"/>
              <a:buFont typeface="Arial"/>
              <a:buChar char="•"/>
            </a:pPr>
            <a:r>
              <a:rPr b="0" i="0" lang="de-DE" sz="1600" u="none" cap="none" strike="noStrike">
                <a:solidFill>
                  <a:schemeClr val="dk1"/>
                </a:solidFill>
                <a:latin typeface="Arial"/>
                <a:ea typeface="Arial"/>
                <a:cs typeface="Arial"/>
                <a:sym typeface="Arial"/>
              </a:rPr>
              <a:t> Выносить one-time тесты отдельно от всего</a:t>
            </a:r>
            <a:endParaRPr/>
          </a:p>
          <a:p>
            <a:pPr indent="0" lvl="0" marL="0" marR="0" rtl="0" algn="l">
              <a:spcBef>
                <a:spcPts val="0"/>
              </a:spcBef>
              <a:spcAft>
                <a:spcPts val="0"/>
              </a:spcAft>
              <a:buNone/>
            </a:pPr>
            <a:r>
              <a:t/>
            </a:r>
            <a:endParaRPr b="0" i="0" sz="1200" u="none" strike="noStrike">
              <a:solidFill>
                <a:srgbClr val="595959"/>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2"/>
          <p:cNvSpPr txBox="1"/>
          <p:nvPr/>
        </p:nvSpPr>
        <p:spPr>
          <a:xfrm>
            <a:off x="2913433" y="1930942"/>
            <a:ext cx="4143983" cy="800267"/>
          </a:xfrm>
          <a:prstGeom prst="rect">
            <a:avLst/>
          </a:prstGeom>
          <a:noFill/>
          <a:ln>
            <a:noFill/>
          </a:ln>
        </p:spPr>
        <p:txBody>
          <a:bodyPr anchorCtr="0" anchor="b" bIns="45700" lIns="91425" spcFirstLastPara="1" rIns="91425" wrap="square" tIns="45700">
            <a:noAutofit/>
          </a:bodyPr>
          <a:lstStyle/>
          <a:p>
            <a:pPr indent="0" lvl="0" marL="0" marR="0" rtl="0" algn="l">
              <a:lnSpc>
                <a:spcPct val="123000"/>
              </a:lnSpc>
              <a:spcBef>
                <a:spcPts val="0"/>
              </a:spcBef>
              <a:spcAft>
                <a:spcPts val="0"/>
              </a:spcAft>
              <a:buClr>
                <a:srgbClr val="00AD20"/>
              </a:buClr>
              <a:buSzPts val="4000"/>
              <a:buFont typeface="Arial"/>
              <a:buNone/>
            </a:pPr>
            <a:r>
              <a:rPr b="1" i="0" lang="de-DE" sz="4000">
                <a:solidFill>
                  <a:srgbClr val="19383A"/>
                </a:solidFill>
                <a:latin typeface="Arial"/>
                <a:ea typeface="Arial"/>
                <a:cs typeface="Arial"/>
                <a:sym typeface="Arial"/>
              </a:rPr>
              <a:t>Вопросы?</a:t>
            </a:r>
            <a:endParaRPr b="1" i="0" sz="4000">
              <a:solidFill>
                <a:srgbClr val="19383A"/>
              </a:solidFill>
              <a:latin typeface="Arial"/>
              <a:ea typeface="Arial"/>
              <a:cs typeface="Arial"/>
              <a:sym typeface="Arial"/>
            </a:endParaRPr>
          </a:p>
        </p:txBody>
      </p:sp>
      <p:sp>
        <p:nvSpPr>
          <p:cNvPr id="297" name="Google Shape;29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3"/>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lang="de-DE"/>
              <a:t>Ресурсы</a:t>
            </a:r>
            <a:endParaRPr/>
          </a:p>
        </p:txBody>
      </p:sp>
      <p:sp>
        <p:nvSpPr>
          <p:cNvPr id="303" name="Google Shape;303;p43"/>
          <p:cNvSpPr txBox="1"/>
          <p:nvPr>
            <p:ph idx="12" type="sldNum"/>
          </p:nvPr>
        </p:nvSpPr>
        <p:spPr>
          <a:xfrm>
            <a:off x="8472458" y="4663217"/>
            <a:ext cx="548700" cy="393600"/>
          </a:xfrm>
          <a:prstGeom prst="rect">
            <a:avLst/>
          </a:prstGeom>
          <a:noFill/>
          <a:ln>
            <a:noFill/>
          </a:ln>
        </p:spPr>
        <p:txBody>
          <a:bodyPr anchorCtr="0" anchor="b" bIns="0" lIns="0" spcFirstLastPara="1" rIns="0" wrap="square" tIns="0">
            <a:normAutofit/>
          </a:bodyPr>
          <a:lstStyle/>
          <a:p>
            <a:pPr indent="0" lvl="0" marL="0" rtl="0" algn="r">
              <a:spcBef>
                <a:spcPts val="0"/>
              </a:spcBef>
              <a:spcAft>
                <a:spcPts val="0"/>
              </a:spcAft>
              <a:buNone/>
            </a:pPr>
            <a:fld id="{00000000-1234-1234-1234-123412341234}" type="slidenum">
              <a:rPr lang="de-DE" sz="1000">
                <a:solidFill>
                  <a:schemeClr val="dk2"/>
                </a:solidFill>
              </a:rPr>
              <a:t>‹#›</a:t>
            </a:fld>
            <a:endParaRPr sz="1000">
              <a:solidFill>
                <a:schemeClr val="dk2"/>
              </a:solidFill>
            </a:endParaRPr>
          </a:p>
        </p:txBody>
      </p:sp>
      <p:sp>
        <p:nvSpPr>
          <p:cNvPr id="304" name="Google Shape;304;p43"/>
          <p:cNvSpPr/>
          <p:nvPr/>
        </p:nvSpPr>
        <p:spPr>
          <a:xfrm>
            <a:off x="674085" y="1063019"/>
            <a:ext cx="7595974" cy="24929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200">
                <a:solidFill>
                  <a:schemeClr val="dk1"/>
                </a:solidFill>
                <a:latin typeface="Arial"/>
                <a:ea typeface="Arial"/>
                <a:cs typeface="Arial"/>
                <a:sym typeface="Arial"/>
              </a:rPr>
              <a:t>1. ISTQB Foundations, </a:t>
            </a:r>
            <a:br>
              <a:rPr lang="de-DE" sz="1200">
                <a:solidFill>
                  <a:schemeClr val="dk1"/>
                </a:solidFill>
                <a:latin typeface="Arial"/>
                <a:ea typeface="Arial"/>
                <a:cs typeface="Arial"/>
                <a:sym typeface="Arial"/>
              </a:rPr>
            </a:br>
            <a:r>
              <a:rPr lang="de-DE" sz="1200" u="sng">
                <a:solidFill>
                  <a:schemeClr val="dk1"/>
                </a:solidFill>
                <a:latin typeface="Arial"/>
                <a:ea typeface="Arial"/>
                <a:cs typeface="Arial"/>
                <a:sym typeface="Arial"/>
                <a:hlinkClick r:id="rId3">
                  <a:extLst>
                    <a:ext uri="{A12FA001-AC4F-418D-AE19-62706E023703}">
                      <ahyp:hlinkClr val="tx"/>
                    </a:ext>
                  </a:extLst>
                </a:hlinkClick>
              </a:rPr>
              <a:t>https://www.istqb.org/downloads/send/51-ctfl2018/208-ctfl-2018-syllabus.html</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de-DE" sz="1200">
                <a:solidFill>
                  <a:schemeClr val="dk1"/>
                </a:solidFill>
                <a:latin typeface="Arial"/>
                <a:ea typeface="Arial"/>
                <a:cs typeface="Arial"/>
                <a:sym typeface="Arial"/>
              </a:rPr>
              <a:t>2. IEEE 610.12-1990, </a:t>
            </a:r>
            <a:br>
              <a:rPr lang="de-DE" sz="1200">
                <a:solidFill>
                  <a:schemeClr val="dk1"/>
                </a:solidFill>
                <a:latin typeface="Arial"/>
                <a:ea typeface="Arial"/>
                <a:cs typeface="Arial"/>
                <a:sym typeface="Arial"/>
              </a:rPr>
            </a:br>
            <a:r>
              <a:rPr lang="de-DE" sz="1200" u="sng">
                <a:solidFill>
                  <a:schemeClr val="dk1"/>
                </a:solidFill>
                <a:latin typeface="Arial"/>
                <a:ea typeface="Arial"/>
                <a:cs typeface="Arial"/>
                <a:sym typeface="Arial"/>
                <a:hlinkClick r:id="rId4">
                  <a:extLst>
                    <a:ext uri="{A12FA001-AC4F-418D-AE19-62706E023703}">
                      <ahyp:hlinkClr val="tx"/>
                    </a:ext>
                  </a:extLst>
                </a:hlinkClick>
              </a:rPr>
              <a:t>http://www.mit.jyu.fi/ope/kurssit/TIES462/Materiaalit..</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AutoNum type="arabicPeriod" startAt="3"/>
            </a:pPr>
            <a:r>
              <a:rPr lang="de-DE" sz="1200">
                <a:solidFill>
                  <a:schemeClr val="dk1"/>
                </a:solidFill>
                <a:latin typeface="Arial"/>
                <a:ea typeface="Arial"/>
                <a:cs typeface="Arial"/>
                <a:sym typeface="Arial"/>
              </a:rPr>
              <a:t> QA fundamental terminology, </a:t>
            </a:r>
            <a:br>
              <a:rPr lang="de-DE" sz="1200">
                <a:solidFill>
                  <a:schemeClr val="dk1"/>
                </a:solidFill>
                <a:latin typeface="Arial"/>
                <a:ea typeface="Arial"/>
                <a:cs typeface="Arial"/>
                <a:sym typeface="Arial"/>
              </a:rPr>
            </a:br>
            <a:r>
              <a:rPr lang="de-DE" sz="1200" u="sng">
                <a:solidFill>
                  <a:schemeClr val="dk1"/>
                </a:solidFill>
                <a:latin typeface="Arial"/>
                <a:ea typeface="Arial"/>
                <a:cs typeface="Arial"/>
                <a:sym typeface="Arial"/>
                <a:hlinkClick r:id="rId5">
                  <a:extLst>
                    <a:ext uri="{A12FA001-AC4F-418D-AE19-62706E023703}">
                      <ahyp:hlinkClr val="tx"/>
                    </a:ext>
                  </a:extLst>
                </a:hlinkClick>
              </a:rPr>
              <a:t>http://softwaretestingfundamentals.com/</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AutoNum type="arabicPeriod" startAt="3"/>
            </a:pPr>
            <a:r>
              <a:rPr lang="de-DE" sz="1200">
                <a:solidFill>
                  <a:schemeClr val="dk1"/>
                </a:solidFill>
                <a:latin typeface="Arial"/>
                <a:ea typeface="Arial"/>
                <a:cs typeface="Arial"/>
                <a:sym typeface="Arial"/>
              </a:rPr>
              <a:t> Святослав Куликов, Тестирование ПО. Базовый курс,</a:t>
            </a:r>
            <a:br>
              <a:rPr lang="de-DE" sz="1200">
                <a:solidFill>
                  <a:schemeClr val="dk1"/>
                </a:solidFill>
                <a:latin typeface="Arial"/>
                <a:ea typeface="Arial"/>
                <a:cs typeface="Arial"/>
                <a:sym typeface="Arial"/>
              </a:rPr>
            </a:br>
            <a:r>
              <a:rPr lang="de-DE" sz="1200" u="sng">
                <a:solidFill>
                  <a:schemeClr val="dk1"/>
                </a:solidFill>
                <a:latin typeface="Arial"/>
                <a:ea typeface="Arial"/>
                <a:cs typeface="Arial"/>
                <a:sym typeface="Arial"/>
                <a:hlinkClick r:id="rId6">
                  <a:extLst>
                    <a:ext uri="{A12FA001-AC4F-418D-AE19-62706E023703}">
                      <ahyp:hlinkClr val="tx"/>
                    </a:ext>
                  </a:extLst>
                </a:hlinkClick>
              </a:rPr>
              <a:t>https://svyatoslav.biz/software_testing_book_download/</a:t>
            </a:r>
            <a:endParaRPr sz="1200">
              <a:solidFill>
                <a:schemeClr val="dk1"/>
              </a:solidFill>
              <a:latin typeface="Arial"/>
              <a:ea typeface="Arial"/>
              <a:cs typeface="Arial"/>
              <a:sym typeface="Arial"/>
            </a:endParaRPr>
          </a:p>
          <a:p>
            <a:pPr indent="-76200" lvl="0" marL="0" marR="0" rtl="0" algn="l">
              <a:spcBef>
                <a:spcPts val="0"/>
              </a:spcBef>
              <a:spcAft>
                <a:spcPts val="0"/>
              </a:spcAft>
              <a:buClr>
                <a:schemeClr val="dk1"/>
              </a:buClr>
              <a:buSzPts val="1200"/>
              <a:buFont typeface="Arial"/>
              <a:buAutoNum type="arabicPeriod" startAt="3"/>
            </a:pPr>
            <a:r>
              <a:rPr lang="de-DE" sz="1200">
                <a:solidFill>
                  <a:schemeClr val="dk1"/>
                </a:solidFill>
                <a:latin typeface="Arial"/>
                <a:ea typeface="Arial"/>
                <a:cs typeface="Arial"/>
                <a:sym typeface="Arial"/>
              </a:rPr>
              <a:t> Вики словарь тестировщика </a:t>
            </a:r>
            <a:br>
              <a:rPr lang="de-DE" sz="1200">
                <a:solidFill>
                  <a:schemeClr val="dk1"/>
                </a:solidFill>
                <a:latin typeface="Arial"/>
                <a:ea typeface="Arial"/>
                <a:cs typeface="Arial"/>
                <a:sym typeface="Arial"/>
              </a:rPr>
            </a:br>
            <a:r>
              <a:rPr lang="de-DE" sz="1200" u="sng">
                <a:solidFill>
                  <a:schemeClr val="dk1"/>
                </a:solidFill>
                <a:latin typeface="Arial"/>
                <a:ea typeface="Arial"/>
                <a:cs typeface="Arial"/>
                <a:sym typeface="Arial"/>
                <a:hlinkClick r:id="rId7">
                  <a:extLst>
                    <a:ext uri="{A12FA001-AC4F-418D-AE19-62706E023703}">
                      <ahyp:hlinkClr val="tx"/>
                    </a:ext>
                  </a:extLst>
                </a:hlinkClick>
              </a:rPr>
              <a:t>http://wiki.software-testing.ru</a:t>
            </a:r>
            <a:endParaRPr sz="1200">
              <a:solidFill>
                <a:schemeClr val="dk1"/>
              </a:solidFill>
              <a:latin typeface="Arial"/>
              <a:ea typeface="Arial"/>
              <a:cs typeface="Arial"/>
              <a:sym typeface="Arial"/>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2019-04-08T16:30:09Z</dcterms:created>
</cp:coreProperties>
</file>