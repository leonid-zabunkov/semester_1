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aa00454c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aa00454c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a00454c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a00454c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a00454c4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aa00454c4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011cc9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3011cc9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9effe3c06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9effe3c0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9effe3c06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9effe3c06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3011cc90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3011cc9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effe3c06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9effe3c06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effe3c06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effe3c06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3011cc90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3011cc90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9effe3c0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9effe3c0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3011cc90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3011cc9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3011cc90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3011cc90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s.sber.ru/docs/ru/policies/gigachat-agreement/individuals#6-intellektualnaya-sobstvenno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Лицензии на программное обеспечение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лицензий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Shareware / Trial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Коммерческое ПО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Обычные лицензии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On-line лицензии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Свободное ПО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Открытое ПО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Бесплатное ПО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55850" y="3654750"/>
            <a:ext cx="883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 усложнена тем, что в английском языке «свободное» и «бесплатное» обозначаются одним и тем же словом «free»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55850" y="4390375"/>
            <a:ext cx="883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!!! </a:t>
            </a:r>
            <a:r>
              <a:rPr lang="ru"/>
              <a:t>понятия «свободное программное обеспечение» и «ПО с открытым исходным кодом» обозначают разные подходы !!!!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Коммерческое ПО на примере Microsoft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50"/>
              <a:buAutoNum type="arabicPeriod"/>
            </a:pPr>
            <a:r>
              <a:rPr lang="ru" sz="1350">
                <a:solidFill>
                  <a:srgbClr val="212529"/>
                </a:solidFill>
                <a:highlight>
                  <a:srgbClr val="FFFFFF"/>
                </a:highlight>
              </a:rPr>
              <a:t>FPP - full packaged product</a:t>
            </a:r>
            <a:endParaRPr sz="13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50"/>
              <a:buAutoNum type="arabicPeriod"/>
            </a:pPr>
            <a:r>
              <a:rPr lang="ru" sz="1350">
                <a:solidFill>
                  <a:srgbClr val="212529"/>
                </a:solidFill>
                <a:highlight>
                  <a:srgbClr val="FFFFFF"/>
                </a:highlight>
              </a:rPr>
              <a:t>OEM - original equipment manufacturer</a:t>
            </a:r>
            <a:endParaRPr sz="13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50"/>
              <a:buAutoNum type="arabicPeriod"/>
            </a:pPr>
            <a:r>
              <a:rPr lang="ru" sz="1350">
                <a:solidFill>
                  <a:srgbClr val="212529"/>
                </a:solidFill>
                <a:highlight>
                  <a:srgbClr val="FFFFFF"/>
                </a:highlight>
              </a:rPr>
              <a:t>Subscription</a:t>
            </a:r>
            <a:endParaRPr sz="135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2931"/>
            <a:ext cx="9144000" cy="289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лицензий Open source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GPL - </a:t>
            </a:r>
            <a:r>
              <a:rPr lang="ru" sz="1700">
                <a:solidFill>
                  <a:srgbClr val="222222"/>
                </a:solidFill>
                <a:highlight>
                  <a:srgbClr val="FFFFFF"/>
                </a:highlight>
              </a:rPr>
              <a:t>исходные коды производных работ должны быть открытыми под ней же</a:t>
            </a:r>
            <a:endParaRPr sz="2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BSD - GNU советуют вместо лицензии BSD использовать MIT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MIT - существует миф, что лицензия MIT существует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Mozilla - распространяется на файлы, а не проекты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Apache - современная и сбалансированная из разрешительных лицензий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Public Domain - Creative Commons </a:t>
            </a:r>
            <a:endParaRPr sz="2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все начиналось - 27 сентября 1983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Изначальной целью проекта было «разработать достаточно свободного программного обеспечения чтобы можно было обойтись без программного обеспечения, которое не является свободным»</a:t>
            </a:r>
            <a:endParaRPr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152475"/>
            <a:ext cx="2549200" cy="33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0150" y="2909805"/>
            <a:ext cx="2123000" cy="20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GPL vs LGPL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GNU GPL — требует, чтобы </a:t>
            </a:r>
            <a:r>
              <a:rPr b="1" lang="ru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исходные коды производных работ</a:t>
            </a: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были открытыми под ней же. То есть, если вы решите использовать библиотеку под GPL в вашем проекте, вам придется бесплатно предоставлять исходники проекта конечным получателям, даже если вы распространяете продукт за деньги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LGPL (GNU Lesser General Public License) - меньшая стандартная общественная лицензия GNU позволяет вам ссылаться на библиотеки с открытым исходным кодом в вашем программном обеспечении. Если вы просто скомпилируете или свяжете лицензированную LGPL библиотеку со своим собственным кодом, вы можете выпустить свое приложение под любой лицензией, которую вы хотите, даже с частной лицензией. Но если вы измените библиотеку или скопируете ее часть в свой код, вам придется выпустить ваше приложение на условиях, аналогичных LGPL.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Mozilla (Mozilla Public License) vs Apache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MPL</a:t>
            </a:r>
            <a:endParaRPr b="1" sz="11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случае использования </a:t>
            </a:r>
            <a:r>
              <a:rPr b="1" lang="ru" sz="11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неизмененной</a:t>
            </a: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библиотеки под Mozilla, как части большего проекта, нужно всего лишь указывать, где можно получить исходники этой библиотеки. Но если вы все же меняете код, то обязаны предоставить доступ к измененному вами коду под все той же </a:t>
            </a: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Mozilla</a:t>
            </a: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Лицензией MPL “заражаются” файлы, а не проекты, в отличие от (L)GPL. Если изменить файл, он должен остаться под MPL. Если добавить — ограничений нет.</a:t>
            </a:r>
            <a:endParaRPr sz="11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333333"/>
                </a:solidFill>
                <a:highlight>
                  <a:srgbClr val="FFFFFF"/>
                </a:highlight>
              </a:rPr>
              <a:t>Apache</a:t>
            </a:r>
            <a:endParaRPr b="1"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</a:rPr>
              <a:t>Наиболее современная и сбалансированная из разрешительных лицензий. Написана человеческим языком, но с оглядкой на современное правоприменение.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100">
                <a:solidFill>
                  <a:srgbClr val="333333"/>
                </a:solidFill>
                <a:highlight>
                  <a:srgbClr val="FFFFFF"/>
                </a:highlight>
              </a:rPr>
              <a:t>Для применения лицензии Apache 2.0 к вашему проекту, нужно добавить в него файл LICENSE, содержащий текст лицензии. Кроме того, нам предлагается добавлять в качестве шапки в каждый файл исходного кода следующий текст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41250" y="4379075"/>
            <a:ext cx="80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Copyright [yyyy] [name of copyright owner]</a:t>
            </a:r>
            <a:endParaRPr sz="1100">
              <a:solidFill>
                <a:srgbClr val="333333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Licensed under the Apache License, Version 2.0</a:t>
            </a:r>
            <a:endParaRPr sz="1100">
              <a:solidFill>
                <a:srgbClr val="333333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условия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/>
              <a:t>MPL: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/>
              <a:t>код программы (в том числе производный от него код), лицензированный MPL, тоже должен распространяться под MPL;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/>
              <a:t>автор составной программы (то есть программы, которая сочетает фрагменты под MPL и другими лицензиями) может выбирать, под какой лицензией её распространять;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/>
              <a:t>автор программы может распространять её под разными лицензиями (множественное лицензирование);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/>
              <a:t>лицензия MPL предоставляет права во всём мире.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Apache License 2.0 </a:t>
            </a:r>
            <a:endParaRPr sz="13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разрешает изменять лицензию исходного софта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распространять программы в «закрытом» виде и взимать плату за использование исходной или производных программ.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/>
              <a:t>Текст Apache License 2.0 включает:</a:t>
            </a:r>
            <a:endParaRPr sz="13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термины и определения;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права и условия их предоставления;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отказ от гарантий и ответственности;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дополнительные обязательства.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6926" y="300953"/>
            <a:ext cx="1530876" cy="86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7667" y="300950"/>
            <a:ext cx="1530876" cy="860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MIT vs BSD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Разрешает использование и изменение кода практически любым образом, при условии, что текст самой лицензии и указание авторства никуда не исчезнут, даже если вы разобьете изначальный проект на части.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48" y="1742250"/>
            <a:ext cx="4115200" cy="322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999" y="736512"/>
            <a:ext cx="4339750" cy="42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Meanwhile in Russia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2032050" y="3256650"/>
            <a:ext cx="50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33333"/>
                </a:solidFill>
                <a:highlight>
                  <a:srgbClr val="FFFFFF"/>
                </a:highlight>
              </a:rPr>
              <a:t>Имущественные права и Неимущественные права</a:t>
            </a:r>
            <a:endParaRPr sz="1800"/>
          </a:p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3">
            <a:alphaModFix/>
          </a:blip>
          <a:srcRect b="6481" l="0" r="0" t="0"/>
          <a:stretch/>
        </p:blipFill>
        <p:spPr>
          <a:xfrm>
            <a:off x="3314700" y="570950"/>
            <a:ext cx="2514600" cy="17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555600"/>
            <a:ext cx="364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Неимущественные (личные)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389600"/>
            <a:ext cx="3752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авторство;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имя;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обнародование;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защита репутации автора;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неприкосновенность (целостность) произведения.</a:t>
            </a:r>
            <a:endParaRPr/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4632625" y="565050"/>
            <a:ext cx="3903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Имущественные (исключительные)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632625" y="1399050"/>
            <a:ext cx="40788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воспроизведение;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распространение, доведение до всеобщего сведения;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публичный показ или исполнение произведения;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трансляция, передача в эфир;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право на переработку;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/>
              <a:t>право на перевод.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Обратите внимание, что </a:t>
            </a:r>
            <a:r>
              <a:rPr b="1" lang="ru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код</a:t>
            </a:r>
            <a:r>
              <a:rPr lang="ru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который </a:t>
            </a:r>
            <a:r>
              <a:rPr b="1" lang="ru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не имеет лицензии</a:t>
            </a:r>
            <a:r>
              <a:rPr lang="ru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автоматически </a:t>
            </a:r>
            <a:r>
              <a:rPr b="1" lang="ru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НЕ находится</a:t>
            </a:r>
            <a:r>
              <a:rPr lang="ru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в свободном доступе.</a:t>
            </a:r>
            <a:endParaRPr sz="4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с правами на контент?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</a:t>
            </a:r>
            <a:r>
              <a:rPr lang="ru"/>
              <a:t>ладельцы нейросети могут указать в публичной оферте, что все права на созданные ей работы принадлежат им. Такое условие договора может иметь юридическую силу, особенно если доступ к нейросети предоставляется бесплатно.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Например, если вы работаете с нейросетью Midjorney, то по условиям использования проекта весь созданный ей контент принадлежит Midjourney и предоставляется вам на условиях некоммерческой лицензии Creative Commons Noncommercial 4.0 Attribution International (СС 4.0.).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https://developers.sber.ru/docs/ru/policies/gigachat-agreement/individuals#6-intellektualnaya-sobstvennost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