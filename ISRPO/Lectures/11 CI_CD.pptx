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71275f828c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71275f828c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71275f828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71275f828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b78d240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b78d240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cb78d240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cb78d240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b78d240b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b78d240b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rgbClr val="111111"/>
                </a:solidFill>
                <a:highlight>
                  <a:srgbClr val="FFFFFF"/>
                </a:highlight>
              </a:rPr>
              <a:t>Этот процесс повторяется для каждой задачи, если вы 10 дней писали код и на сборку/развертывание потратили 1 час, то это выглядит разумно и не трудозатратно. Но что если вы поправили мелкий баг за 1 минуту, но на развертывание потратите тот же час? В этой ситуации это выглядит довольно расточительно. А если вам нужно выполнять в день 10 — 20 багфиксов (</a:t>
            </a:r>
            <a:r>
              <a:rPr i="1" lang="ru" sz="1200">
                <a:solidFill>
                  <a:srgbClr val="111111"/>
                </a:solidFill>
                <a:highlight>
                  <a:srgbClr val="FFFFFF"/>
                </a:highlight>
              </a:rPr>
              <a:t>bugfix</a:t>
            </a:r>
            <a:r>
              <a:rPr lang="ru" sz="1200">
                <a:solidFill>
                  <a:srgbClr val="111111"/>
                </a:solidFill>
                <a:highlight>
                  <a:srgbClr val="FFFFFF"/>
                </a:highlight>
              </a:rPr>
              <a:t>, исправление ошибки)?</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cb78d240b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cb78d240b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71275f828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71275f828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b78d240b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b78d240b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b78d240b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b78d240b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000">
                <a:solidFill>
                  <a:srgbClr val="555555"/>
                </a:solidFill>
                <a:highlight>
                  <a:srgbClr val="FFFFFF"/>
                </a:highlight>
              </a:rPr>
              <a:t>Не всегда непрерывное развёртывание имеет смысл.</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cb78d240b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cb78d240b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fa6a266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fa6a266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fa6a2669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fa6a2669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71275f828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71275f828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rgbClr val="333333"/>
                </a:solidFill>
                <a:highlight>
                  <a:srgbClr val="FFFFFF"/>
                </a:highlight>
              </a:rPr>
              <a:t>В течение 6 лет группа DevOps Research and Assessment (DORA) из Google анализировала состояние DevOps в разных организациях. Они пришли к выводу, что оценить качество DevOps можно по четырем ключевым метрикам</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cb78d240b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cb78d240b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cb78d240b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cb78d240b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cb78d240b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cb78d240b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cb78d240b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cb78d240b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cb78d240b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cb78d240b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b78d240bd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b78d240bd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cb78d240bd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cb78d240bd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b78d240bd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b78d240bd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cb78d240bd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cb78d240bd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cb78d240bd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cb78d240bd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cb78d240bd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cb78d240bd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DevOps</a:t>
            </a:r>
            <a:endParaRPr/>
          </a:p>
          <a:p>
            <a:pPr indent="0" lvl="0" marL="0" rtl="0" algn="ctr">
              <a:spcBef>
                <a:spcPts val="0"/>
              </a:spcBef>
              <a:spcAft>
                <a:spcPts val="0"/>
              </a:spcAft>
              <a:buNone/>
            </a:pPr>
            <a:r>
              <a:rPr lang="ru"/>
              <a:t>CI/CD</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p:cNvPicPr preferRelativeResize="0"/>
          <p:nvPr/>
        </p:nvPicPr>
        <p:blipFill rotWithShape="1">
          <a:blip r:embed="rId3">
            <a:alphaModFix/>
          </a:blip>
          <a:srcRect b="0" l="0" r="0" t="19309"/>
          <a:stretch/>
        </p:blipFill>
        <p:spPr>
          <a:xfrm>
            <a:off x="1600200" y="1969575"/>
            <a:ext cx="5943600" cy="1583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9" name="Google Shape;69;p15"/>
          <p:cNvPicPr preferRelativeResize="0"/>
          <p:nvPr/>
        </p:nvPicPr>
        <p:blipFill>
          <a:blip r:embed="rId3">
            <a:alphaModFix/>
          </a:blip>
          <a:stretch>
            <a:fillRect/>
          </a:stretch>
        </p:blipFill>
        <p:spPr>
          <a:xfrm>
            <a:off x="2656849" y="445025"/>
            <a:ext cx="3987126" cy="4366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CI/CD/CD</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6" name="Google Shape;76;p16"/>
          <p:cNvPicPr preferRelativeResize="0"/>
          <p:nvPr/>
        </p:nvPicPr>
        <p:blipFill>
          <a:blip r:embed="rId3">
            <a:alphaModFix/>
          </a:blip>
          <a:stretch>
            <a:fillRect/>
          </a:stretch>
        </p:blipFill>
        <p:spPr>
          <a:xfrm>
            <a:off x="579463" y="1359475"/>
            <a:ext cx="7985074" cy="3002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Continuous Integration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все изменения, вносимые в код, объединяются в центральном репозитории. Слияние происходит несколько раз в день, и после каждого слияния в конкретном проекте срабатывает автоматическая сборка и тестирование.</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ru"/>
              <a:t>Основные цели continuous integration – поиск и устранение потенциальных проблем как можно быстрее, улучшение качества ПО и сокращение время для выпуска обновлений.</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ru" sz="2400">
                <a:solidFill>
                  <a:schemeClr val="dk2"/>
                </a:solidFill>
              </a:rPr>
              <a:t>Рассмотрим классический процесс CI</a:t>
            </a:r>
            <a:endParaRPr sz="2400"/>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ru"/>
              <a:t>Берем задачу из списка</a:t>
            </a:r>
            <a:endParaRPr/>
          </a:p>
          <a:p>
            <a:pPr indent="0" lvl="0" marL="0" rtl="0" algn="l">
              <a:spcBef>
                <a:spcPts val="1200"/>
              </a:spcBef>
              <a:spcAft>
                <a:spcPts val="0"/>
              </a:spcAft>
              <a:buClr>
                <a:schemeClr val="dk1"/>
              </a:buClr>
              <a:buSzPct val="61111"/>
              <a:buFont typeface="Arial"/>
              <a:buNone/>
            </a:pPr>
            <a:r>
              <a:rPr lang="ru"/>
              <a:t>Создаем новую ветку в git и открываем пул реквест</a:t>
            </a:r>
            <a:endParaRPr/>
          </a:p>
          <a:p>
            <a:pPr indent="0" lvl="0" marL="0" rtl="0" algn="l">
              <a:spcBef>
                <a:spcPts val="1200"/>
              </a:spcBef>
              <a:spcAft>
                <a:spcPts val="0"/>
              </a:spcAft>
              <a:buClr>
                <a:schemeClr val="dk1"/>
              </a:buClr>
              <a:buSzPct val="61111"/>
              <a:buFont typeface="Arial"/>
              <a:buNone/>
            </a:pPr>
            <a:r>
              <a:rPr lang="ru"/>
              <a:t>Пишем код</a:t>
            </a:r>
            <a:endParaRPr/>
          </a:p>
          <a:p>
            <a:pPr indent="0" lvl="0" marL="0" rtl="0" algn="l">
              <a:spcBef>
                <a:spcPts val="1200"/>
              </a:spcBef>
              <a:spcAft>
                <a:spcPts val="0"/>
              </a:spcAft>
              <a:buClr>
                <a:schemeClr val="dk1"/>
              </a:buClr>
              <a:buSzPct val="61111"/>
              <a:buFont typeface="Arial"/>
              <a:buNone/>
            </a:pPr>
            <a:r>
              <a:rPr lang="ru"/>
              <a:t>Лично или с помощью коллеги выполняем код-ревью (code review — обзор/проверку кода)</a:t>
            </a:r>
            <a:endParaRPr/>
          </a:p>
          <a:p>
            <a:pPr indent="0" lvl="0" marL="0" rtl="0" algn="l">
              <a:spcBef>
                <a:spcPts val="1200"/>
              </a:spcBef>
              <a:spcAft>
                <a:spcPts val="0"/>
              </a:spcAft>
              <a:buClr>
                <a:schemeClr val="dk1"/>
              </a:buClr>
              <a:buSzPct val="61111"/>
              <a:buFont typeface="Arial"/>
              <a:buNone/>
            </a:pPr>
            <a:r>
              <a:rPr lang="ru"/>
              <a:t>Запускаем тесты</a:t>
            </a:r>
            <a:endParaRPr/>
          </a:p>
          <a:p>
            <a:pPr indent="0" lvl="0" marL="0" rtl="0" algn="l">
              <a:spcBef>
                <a:spcPts val="1200"/>
              </a:spcBef>
              <a:spcAft>
                <a:spcPts val="0"/>
              </a:spcAft>
              <a:buClr>
                <a:schemeClr val="dk1"/>
              </a:buClr>
              <a:buSzPct val="61111"/>
              <a:buFont typeface="Arial"/>
              <a:buNone/>
            </a:pPr>
            <a:r>
              <a:rPr lang="ru"/>
              <a:t>Сливаем ветку в master</a:t>
            </a:r>
            <a:endParaRPr/>
          </a:p>
          <a:p>
            <a:pPr indent="0" lvl="0" marL="0" rtl="0" algn="l">
              <a:spcBef>
                <a:spcPts val="1200"/>
              </a:spcBef>
              <a:spcAft>
                <a:spcPts val="0"/>
              </a:spcAft>
              <a:buClr>
                <a:schemeClr val="dk1"/>
              </a:buClr>
              <a:buSzPct val="61111"/>
              <a:buFont typeface="Arial"/>
              <a:buNone/>
            </a:pPr>
            <a:r>
              <a:rPr lang="ru"/>
              <a:t>Выполняем сборку проекта</a:t>
            </a:r>
            <a:endParaRPr/>
          </a:p>
          <a:p>
            <a:pPr indent="0" lvl="0" marL="0" rtl="0" algn="l">
              <a:spcBef>
                <a:spcPts val="1200"/>
              </a:spcBef>
              <a:spcAft>
                <a:spcPts val="0"/>
              </a:spcAft>
              <a:buClr>
                <a:schemeClr val="dk1"/>
              </a:buClr>
              <a:buSzPct val="61111"/>
              <a:buFont typeface="Arial"/>
              <a:buNone/>
            </a:pPr>
            <a:r>
              <a:rPr lang="ru"/>
              <a:t>Публикуем новую сборку</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solidFill>
                  <a:srgbClr val="555555"/>
                </a:solidFill>
                <a:highlight>
                  <a:srgbClr val="FFFFFF"/>
                </a:highlight>
              </a:rPr>
              <a:t>Continuous Delivery</a:t>
            </a:r>
            <a:endParaRPr sz="2500"/>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CD - </a:t>
            </a:r>
            <a:r>
              <a:rPr lang="ru"/>
              <a:t>это </a:t>
            </a:r>
            <a:r>
              <a:rPr b="1" lang="ru"/>
              <a:t>серия практик</a:t>
            </a:r>
            <a:r>
              <a:rPr lang="ru"/>
              <a:t>, направленных на то, чтобы обновления программного обеспечения происходили практически постоянно. Данные методы гарантируют быстрое развёртывание на продакшене не меняя существующий функционал. Continuous delivery осуществима благодаря различным оптимизациям на ранних этапах процесса разработки.</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ru">
                <a:solidFill>
                  <a:srgbClr val="555555"/>
                </a:solidFill>
                <a:highlight>
                  <a:srgbClr val="FFFFFF"/>
                </a:highlight>
              </a:rPr>
              <a:t>Continuous Delivery</a:t>
            </a:r>
            <a:r>
              <a:rPr lang="ru">
                <a:solidFill>
                  <a:srgbClr val="555555"/>
                </a:solidFill>
                <a:highlight>
                  <a:srgbClr val="FFFFFF"/>
                </a:highlight>
              </a:rPr>
              <a:t> поставляет бизнесу каждый функционал постепенно. Это позволяет получить сразу отклик от клиента и, при необходимости, сделать некоторые изменения.</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2400"/>
              </a:spcBef>
              <a:spcAft>
                <a:spcPts val="600"/>
              </a:spcAft>
              <a:buNone/>
            </a:pPr>
            <a:r>
              <a:rPr lang="ru" sz="2500">
                <a:solidFill>
                  <a:srgbClr val="555555"/>
                </a:solidFill>
                <a:highlight>
                  <a:srgbClr val="FFFFFF"/>
                </a:highlight>
              </a:rPr>
              <a:t>Continuous Delivery</a:t>
            </a:r>
            <a:endParaRPr sz="2500">
              <a:solidFill>
                <a:srgbClr val="555555"/>
              </a:solidFill>
              <a:highlight>
                <a:srgbClr val="FFFFFF"/>
              </a:highlight>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В</a:t>
            </a:r>
            <a:r>
              <a:rPr lang="ru"/>
              <a:t> 1998-м году в одной швейцарской страховой компании Кент Бек </a:t>
            </a:r>
            <a:r>
              <a:rPr lang="ru"/>
              <a:t>построил</a:t>
            </a:r>
            <a:r>
              <a:rPr lang="ru"/>
              <a:t> процесс разработки, по которому каждый день после ночных тестов приложение разворачивалось в промышленную эксплуатацию.</a:t>
            </a:r>
            <a:endParaRPr/>
          </a:p>
          <a:p>
            <a:pPr indent="0" lvl="0" marL="0" rtl="0" algn="l">
              <a:spcBef>
                <a:spcPts val="1200"/>
              </a:spcBef>
              <a:spcAft>
                <a:spcPts val="1200"/>
              </a:spcAft>
              <a:buNone/>
            </a:pPr>
            <a:r>
              <a:rPr lang="ru"/>
              <a:t>Через 12 лет Джез Хамбл и Дейв Фарли публикуют книгу «Continuous Delivery», в основу которой лёг многолетний опыт их работы в компании Thoughtworks, до сих пор являющейся одним из мировых лидеров в области Agile-разработки.</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Преимущества Continuous Delivery</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Внесение нового функционала для проверки совместимости с системой;</a:t>
            </a:r>
            <a:endParaRPr/>
          </a:p>
          <a:p>
            <a:pPr indent="-342900" lvl="0" marL="457200" rtl="0" algn="l">
              <a:spcBef>
                <a:spcPts val="0"/>
              </a:spcBef>
              <a:spcAft>
                <a:spcPts val="0"/>
              </a:spcAft>
              <a:buSzPts val="1800"/>
              <a:buChar char="●"/>
            </a:pPr>
            <a:r>
              <a:rPr lang="ru"/>
              <a:t>Быстрое реагирование на потребности рынка;</a:t>
            </a:r>
            <a:endParaRPr/>
          </a:p>
          <a:p>
            <a:pPr indent="-342900" lvl="0" marL="457200" rtl="0" algn="l">
              <a:spcBef>
                <a:spcPts val="0"/>
              </a:spcBef>
              <a:spcAft>
                <a:spcPts val="0"/>
              </a:spcAft>
              <a:buSzPts val="1800"/>
              <a:buChar char="●"/>
            </a:pPr>
            <a:r>
              <a:rPr lang="ru"/>
              <a:t>Возможность подстраивания под изменение бизнес-стратегии;</a:t>
            </a:r>
            <a:endParaRPr/>
          </a:p>
          <a:p>
            <a:pPr indent="-342900" lvl="0" marL="457200" rtl="0" algn="l">
              <a:spcBef>
                <a:spcPts val="0"/>
              </a:spcBef>
              <a:spcAft>
                <a:spcPts val="0"/>
              </a:spcAft>
              <a:buSzPts val="1800"/>
              <a:buChar char="●"/>
            </a:pPr>
            <a:r>
              <a:rPr lang="ru"/>
              <a:t>Низкое количество потенциальных ошибок.</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Continuous Deployment</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ru">
                <a:solidFill>
                  <a:schemeClr val="dk1"/>
                </a:solidFill>
              </a:rPr>
              <a:t>Continuous Deployment </a:t>
            </a:r>
            <a:r>
              <a:rPr lang="ru">
                <a:solidFill>
                  <a:schemeClr val="dk1"/>
                </a:solidFill>
              </a:rPr>
              <a:t>отвечает за то, чтобы </a:t>
            </a:r>
            <a:r>
              <a:rPr b="1" lang="ru">
                <a:solidFill>
                  <a:schemeClr val="dk1"/>
                </a:solidFill>
              </a:rPr>
              <a:t>весь новый функционал</a:t>
            </a:r>
            <a:r>
              <a:rPr lang="ru">
                <a:solidFill>
                  <a:schemeClr val="dk1"/>
                </a:solidFill>
              </a:rPr>
              <a:t> после тестирования </a:t>
            </a:r>
            <a:r>
              <a:rPr b="1" lang="ru">
                <a:solidFill>
                  <a:schemeClr val="dk1"/>
                </a:solidFill>
              </a:rPr>
              <a:t>сразу же попал</a:t>
            </a:r>
            <a:r>
              <a:rPr lang="ru">
                <a:solidFill>
                  <a:schemeClr val="dk1"/>
                </a:solidFill>
              </a:rPr>
              <a:t> в основную программу </a:t>
            </a:r>
            <a:r>
              <a:rPr b="1" lang="ru">
                <a:solidFill>
                  <a:schemeClr val="dk1"/>
                </a:solidFill>
              </a:rPr>
              <a:t>без ручного вмешательства</a:t>
            </a:r>
            <a:r>
              <a:rPr lang="ru">
                <a:solidFill>
                  <a:schemeClr val="dk1"/>
                </a:solidFill>
              </a:rPr>
              <a:t> инженеров DevOps.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ru">
                <a:solidFill>
                  <a:schemeClr val="dk1"/>
                </a:solidFill>
              </a:rPr>
              <a:t>Тот же Docker создан для </a:t>
            </a:r>
            <a:r>
              <a:rPr lang="ru">
                <a:solidFill>
                  <a:schemeClr val="dk1"/>
                </a:solidFill>
              </a:rPr>
              <a:t>Continuous Deployment</a:t>
            </a:r>
            <a:r>
              <a:rPr lang="ru">
                <a:solidFill>
                  <a:schemeClr val="dk1"/>
                </a:solidFill>
              </a:rPr>
              <a:t>. DevOps инженеры могут обновлять контейнеры и разворачивать их сразу на продакшене в автоматическом режиме, весь процесс может занять всего лишь несколько минут.</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3"/>
          <p:cNvPicPr preferRelativeResize="0"/>
          <p:nvPr/>
        </p:nvPicPr>
        <p:blipFill>
          <a:blip r:embed="rId3">
            <a:alphaModFix/>
          </a:blip>
          <a:stretch>
            <a:fillRect/>
          </a:stretch>
        </p:blipFill>
        <p:spPr>
          <a:xfrm>
            <a:off x="1305253" y="1017725"/>
            <a:ext cx="6533497" cy="3908100"/>
          </a:xfrm>
          <a:prstGeom prst="rect">
            <a:avLst/>
          </a:prstGeom>
          <a:noFill/>
          <a:ln>
            <a:noFill/>
          </a:ln>
        </p:spPr>
      </p:pic>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примерный вид процессов CI/CD в команде</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Основные компоненты пайплайна CI/CD</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Триггер (push, pull request)</a:t>
            </a:r>
            <a:endParaRPr/>
          </a:p>
          <a:p>
            <a:pPr indent="-342900" lvl="0" marL="457200" rtl="0" algn="l">
              <a:spcBef>
                <a:spcPts val="0"/>
              </a:spcBef>
              <a:spcAft>
                <a:spcPts val="0"/>
              </a:spcAft>
              <a:buSzPts val="1800"/>
              <a:buChar char="●"/>
            </a:pPr>
            <a:r>
              <a:rPr lang="ru"/>
              <a:t>Сборка (build)</a:t>
            </a:r>
            <a:endParaRPr/>
          </a:p>
          <a:p>
            <a:pPr indent="-342900" lvl="0" marL="457200" rtl="0" algn="l">
              <a:spcBef>
                <a:spcPts val="0"/>
              </a:spcBef>
              <a:spcAft>
                <a:spcPts val="0"/>
              </a:spcAft>
              <a:buSzPts val="1800"/>
              <a:buChar char="●"/>
            </a:pPr>
            <a:r>
              <a:rPr lang="ru"/>
              <a:t>Тесты (unit, linting и др.)</a:t>
            </a:r>
            <a:endParaRPr/>
          </a:p>
          <a:p>
            <a:pPr indent="-342900" lvl="0" marL="457200" rtl="0" algn="l">
              <a:spcBef>
                <a:spcPts val="0"/>
              </a:spcBef>
              <a:spcAft>
                <a:spcPts val="0"/>
              </a:spcAft>
              <a:buSzPts val="1800"/>
              <a:buChar char="●"/>
            </a:pPr>
            <a:r>
              <a:rPr lang="ru"/>
              <a:t>Деплой (опционально)</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Измерение эффективности DevOps процессов</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700"/>
              <a:t>DORA</a:t>
            </a:r>
            <a:endParaRPr sz="1700"/>
          </a:p>
          <a:p>
            <a:pPr indent="0" lvl="0" marL="0" rtl="0" algn="l">
              <a:spcBef>
                <a:spcPts val="1200"/>
              </a:spcBef>
              <a:spcAft>
                <a:spcPts val="0"/>
              </a:spcAft>
              <a:buNone/>
            </a:pPr>
            <a:r>
              <a:rPr lang="ru" sz="1700"/>
              <a:t>Среднее время до обнаружения (MTTD)</a:t>
            </a:r>
            <a:endParaRPr sz="1700"/>
          </a:p>
          <a:p>
            <a:pPr indent="0" lvl="0" marL="0" rtl="0" algn="l">
              <a:spcBef>
                <a:spcPts val="1200"/>
              </a:spcBef>
              <a:spcAft>
                <a:spcPts val="0"/>
              </a:spcAft>
              <a:buNone/>
            </a:pPr>
            <a:r>
              <a:rPr lang="ru" sz="1700"/>
              <a:t>Среднее время наработки на отказ (MTTF)</a:t>
            </a:r>
            <a:endParaRPr sz="1700"/>
          </a:p>
          <a:p>
            <a:pPr indent="0" lvl="0" marL="0" rtl="0" algn="l">
              <a:spcBef>
                <a:spcPts val="1200"/>
              </a:spcBef>
              <a:spcAft>
                <a:spcPts val="0"/>
              </a:spcAft>
              <a:buNone/>
            </a:pPr>
            <a:r>
              <a:rPr lang="ru" sz="1700"/>
              <a:t>Количество новых уязвимостей (VOR)</a:t>
            </a:r>
            <a:endParaRPr sz="1700"/>
          </a:p>
          <a:p>
            <a:pPr indent="0" lvl="0" marL="0" rtl="0" algn="l">
              <a:spcBef>
                <a:spcPts val="1200"/>
              </a:spcBef>
              <a:spcAft>
                <a:spcPts val="1200"/>
              </a:spcAft>
              <a:buNone/>
            </a:pPr>
            <a:r>
              <a:rPr lang="ru" sz="1700"/>
              <a:t>Стоимость единицы продукции</a:t>
            </a:r>
            <a:endParaRPr sz="1700"/>
          </a:p>
        </p:txBody>
      </p:sp>
      <p:pic>
        <p:nvPicPr>
          <p:cNvPr id="131" name="Google Shape;131;p25"/>
          <p:cNvPicPr preferRelativeResize="0"/>
          <p:nvPr/>
        </p:nvPicPr>
        <p:blipFill rotWithShape="1">
          <a:blip r:embed="rId3">
            <a:alphaModFix/>
          </a:blip>
          <a:srcRect b="14247" l="10187" r="10717" t="8240"/>
          <a:stretch/>
        </p:blipFill>
        <p:spPr>
          <a:xfrm>
            <a:off x="4780600" y="986325"/>
            <a:ext cx="4051702" cy="2410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DORA</a:t>
            </a:r>
            <a:endParaRPr/>
          </a:p>
          <a:p>
            <a:pPr indent="0" lvl="0" marL="0" rtl="0" algn="l">
              <a:spcBef>
                <a:spcPts val="0"/>
              </a:spcBef>
              <a:spcAft>
                <a:spcPts val="0"/>
              </a:spcAft>
              <a:buNone/>
            </a:pPr>
            <a:r>
              <a:rPr lang="ru"/>
              <a:t>metrics</a:t>
            </a:r>
            <a:endParaRPr/>
          </a:p>
        </p:txBody>
      </p:sp>
      <p:pic>
        <p:nvPicPr>
          <p:cNvPr id="137" name="Google Shape;137;p26"/>
          <p:cNvPicPr preferRelativeResize="0"/>
          <p:nvPr/>
        </p:nvPicPr>
        <p:blipFill>
          <a:blip r:embed="rId3">
            <a:alphaModFix/>
          </a:blip>
          <a:stretch>
            <a:fillRect/>
          </a:stretch>
        </p:blipFill>
        <p:spPr>
          <a:xfrm>
            <a:off x="1936200" y="275638"/>
            <a:ext cx="6896100" cy="4733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Tools - Team City</a:t>
            </a:r>
            <a:endParaRPr/>
          </a:p>
        </p:txBody>
      </p:sp>
      <p:pic>
        <p:nvPicPr>
          <p:cNvPr id="143" name="Google Shape;143;p27"/>
          <p:cNvPicPr preferRelativeResize="0"/>
          <p:nvPr/>
        </p:nvPicPr>
        <p:blipFill>
          <a:blip r:embed="rId3">
            <a:alphaModFix/>
          </a:blip>
          <a:stretch>
            <a:fillRect/>
          </a:stretch>
        </p:blipFill>
        <p:spPr>
          <a:xfrm>
            <a:off x="939063" y="1017725"/>
            <a:ext cx="7265884" cy="3820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Tools - Jenkins</a:t>
            </a:r>
            <a:endParaRPr/>
          </a:p>
        </p:txBody>
      </p:sp>
      <p:pic>
        <p:nvPicPr>
          <p:cNvPr id="149" name="Google Shape;149;p28"/>
          <p:cNvPicPr preferRelativeResize="0"/>
          <p:nvPr/>
        </p:nvPicPr>
        <p:blipFill>
          <a:blip r:embed="rId3">
            <a:alphaModFix/>
          </a:blip>
          <a:stretch>
            <a:fillRect/>
          </a:stretch>
        </p:blipFill>
        <p:spPr>
          <a:xfrm>
            <a:off x="1222513" y="1017725"/>
            <a:ext cx="6698986" cy="3820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Docker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Предпосылки к появлению</a:t>
            </a:r>
            <a:endParaRPr/>
          </a:p>
        </p:txBody>
      </p:sp>
      <p:pic>
        <p:nvPicPr>
          <p:cNvPr id="160" name="Google Shape;160;p30"/>
          <p:cNvPicPr preferRelativeResize="0"/>
          <p:nvPr/>
        </p:nvPicPr>
        <p:blipFill>
          <a:blip r:embed="rId3">
            <a:alphaModFix/>
          </a:blip>
          <a:stretch>
            <a:fillRect/>
          </a:stretch>
        </p:blipFill>
        <p:spPr>
          <a:xfrm>
            <a:off x="152400" y="1170125"/>
            <a:ext cx="8839199" cy="36091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Виртуализация</a:t>
            </a:r>
            <a:endParaRPr/>
          </a:p>
        </p:txBody>
      </p:sp>
      <p:pic>
        <p:nvPicPr>
          <p:cNvPr id="166" name="Google Shape;166;p31"/>
          <p:cNvPicPr preferRelativeResize="0"/>
          <p:nvPr/>
        </p:nvPicPr>
        <p:blipFill>
          <a:blip r:embed="rId3">
            <a:alphaModFix/>
          </a:blip>
          <a:stretch>
            <a:fillRect/>
          </a:stretch>
        </p:blipFill>
        <p:spPr>
          <a:xfrm>
            <a:off x="2134788" y="1156000"/>
            <a:ext cx="4874422"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t>Processes limitation| chroot</a:t>
            </a:r>
            <a:endParaRPr sz="2500"/>
          </a:p>
        </p:txBody>
      </p:sp>
      <p:pic>
        <p:nvPicPr>
          <p:cNvPr id="172" name="Google Shape;172;p32"/>
          <p:cNvPicPr preferRelativeResize="0"/>
          <p:nvPr/>
        </p:nvPicPr>
        <p:blipFill>
          <a:blip r:embed="rId3">
            <a:alphaModFix/>
          </a:blip>
          <a:stretch>
            <a:fillRect/>
          </a:stretch>
        </p:blipFill>
        <p:spPr>
          <a:xfrm>
            <a:off x="2230688" y="1113600"/>
            <a:ext cx="4682636"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ru" sz="3120"/>
              <a:t>Container =</a:t>
            </a:r>
            <a:endParaRPr b="1" sz="3120"/>
          </a:p>
        </p:txBody>
      </p:sp>
      <p:pic>
        <p:nvPicPr>
          <p:cNvPr id="178" name="Google Shape;178;p33"/>
          <p:cNvPicPr preferRelativeResize="0"/>
          <p:nvPr/>
        </p:nvPicPr>
        <p:blipFill>
          <a:blip r:embed="rId3">
            <a:alphaModFix/>
          </a:blip>
          <a:stretch>
            <a:fillRect/>
          </a:stretch>
        </p:blipFill>
        <p:spPr>
          <a:xfrm>
            <a:off x="152400" y="1170125"/>
            <a:ext cx="8754781" cy="3820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Почему все-таки Docker?</a:t>
            </a:r>
            <a:endParaRPr/>
          </a:p>
        </p:txBody>
      </p:sp>
      <p:pic>
        <p:nvPicPr>
          <p:cNvPr id="184" name="Google Shape;184;p34"/>
          <p:cNvPicPr preferRelativeResize="0"/>
          <p:nvPr/>
        </p:nvPicPr>
        <p:blipFill>
          <a:blip r:embed="rId3">
            <a:alphaModFix/>
          </a:blip>
          <a:stretch>
            <a:fillRect/>
          </a:stretch>
        </p:blipFill>
        <p:spPr>
          <a:xfrm>
            <a:off x="152400" y="1170125"/>
            <a:ext cx="8839201" cy="1907115"/>
          </a:xfrm>
          <a:prstGeom prst="rect">
            <a:avLst/>
          </a:prstGeom>
          <a:noFill/>
          <a:ln>
            <a:noFill/>
          </a:ln>
        </p:spPr>
      </p:pic>
      <p:pic>
        <p:nvPicPr>
          <p:cNvPr id="185" name="Google Shape;185;p34"/>
          <p:cNvPicPr preferRelativeResize="0"/>
          <p:nvPr/>
        </p:nvPicPr>
        <p:blipFill>
          <a:blip r:embed="rId4">
            <a:alphaModFix/>
          </a:blip>
          <a:stretch>
            <a:fillRect/>
          </a:stretch>
        </p:blipFill>
        <p:spPr>
          <a:xfrm>
            <a:off x="5163425" y="2259164"/>
            <a:ext cx="3668875" cy="274366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5"/>
          <p:cNvPicPr preferRelativeResize="0"/>
          <p:nvPr/>
        </p:nvPicPr>
        <p:blipFill>
          <a:blip r:embed="rId3">
            <a:alphaModFix/>
          </a:blip>
          <a:stretch>
            <a:fillRect/>
          </a:stretch>
        </p:blipFill>
        <p:spPr>
          <a:xfrm>
            <a:off x="152400" y="57175"/>
            <a:ext cx="8787225" cy="4933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Containers management systems</a:t>
            </a:r>
            <a:endParaRPr/>
          </a:p>
        </p:txBody>
      </p:sp>
      <p:pic>
        <p:nvPicPr>
          <p:cNvPr id="196" name="Google Shape;196;p36"/>
          <p:cNvPicPr preferRelativeResize="0"/>
          <p:nvPr/>
        </p:nvPicPr>
        <p:blipFill>
          <a:blip r:embed="rId3">
            <a:alphaModFix/>
          </a:blip>
          <a:stretch>
            <a:fillRect/>
          </a:stretch>
        </p:blipFill>
        <p:spPr>
          <a:xfrm>
            <a:off x="1140775" y="1085325"/>
            <a:ext cx="6862442" cy="38209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FIN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